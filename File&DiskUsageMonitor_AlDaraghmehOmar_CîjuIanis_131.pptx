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7" r:id="rId10"/>
    <p:sldId id="260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OmarSorin/proiect-ITBI-2026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OmarSorin/proiect-ITBI-2026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File &amp; Disk Usage Monitor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err="1"/>
              <a:t>Proiect</a:t>
            </a:r>
            <a:r>
              <a:rPr lang="en-US"/>
              <a:t> (</a:t>
            </a:r>
            <a:r>
              <a:rPr lang="en-US">
                <a:hlinkClick r:id="rId1"/>
              </a:rPr>
              <a:t>link</a:t>
            </a:r>
            <a:r>
              <a:rPr lang="en-US"/>
              <a:t>) </a:t>
            </a:r>
            <a:r>
              <a:rPr lang="en-US" err="1"/>
              <a:t>realizat</a:t>
            </a:r>
            <a:r>
              <a:rPr lang="en-US"/>
              <a:t> de Al Daraghmeh Omar-Sorin </a:t>
            </a:r>
            <a:r>
              <a:rPr lang="en-US" err="1"/>
              <a:t>și</a:t>
            </a:r>
            <a:r>
              <a:rPr lang="en-US"/>
              <a:t> C</a:t>
            </a:r>
            <a:r>
              <a:rPr lang="en-US" err="1">
                <a:solidFill>
                  <a:srgbClr val="101418"/>
                </a:solidFill>
                <a:highlight>
                  <a:srgbClr val="FFFFFF"/>
                </a:highlight>
              </a:rPr>
              <a:t>îju</a:t>
            </a:r>
            <a:r>
              <a:rPr lang="en-US">
                <a:solidFill>
                  <a:srgbClr val="101418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101418"/>
                </a:solidFill>
                <a:highlight>
                  <a:srgbClr val="FFFFFF"/>
                </a:highlight>
              </a:rPr>
              <a:t>Ianis</a:t>
            </a:r>
            <a:r>
              <a:rPr lang="en-US">
                <a:solidFill>
                  <a:srgbClr val="101418"/>
                </a:solidFill>
                <a:highlight>
                  <a:srgbClr val="FFFFFF"/>
                </a:highlight>
              </a:rPr>
              <a:t>-Cristian</a:t>
            </a:r>
            <a:endParaRPr lang="en-US"/>
          </a:p>
          <a:p>
            <a:pPr algn="l"/>
            <a:endParaRPr lang="en-US">
              <a:solidFill>
                <a:srgbClr val="101418"/>
              </a:solidFill>
              <a:highlight>
                <a:srgbClr val="FFFFFF"/>
              </a:highlight>
            </a:endParaRPr>
          </a:p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>
                <a:ea typeface="+mj-lt"/>
                <a:cs typeface="+mj-lt"/>
              </a:rPr>
              <a:t>Rezumat și GitHub</a:t>
            </a:r>
            <a:endParaRPr lang="en-US" sz="7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Pe </a:t>
            </a:r>
            <a:r>
              <a:rPr lang="en-US" sz="1700" err="1">
                <a:ea typeface="+mn-lt"/>
                <a:cs typeface="+mn-lt"/>
              </a:rPr>
              <a:t>scurt</a:t>
            </a:r>
            <a:r>
              <a:rPr lang="en-US" sz="1700">
                <a:ea typeface="+mn-lt"/>
                <a:cs typeface="+mn-lt"/>
              </a:rPr>
              <a:t>, </a:t>
            </a:r>
            <a:r>
              <a:rPr lang="en-US" sz="1700" err="1">
                <a:ea typeface="+mn-lt"/>
                <a:cs typeface="+mn-lt"/>
              </a:rPr>
              <a:t>acest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proiect</a:t>
            </a:r>
            <a:r>
              <a:rPr lang="en-US" sz="1700">
                <a:ea typeface="+mn-lt"/>
                <a:cs typeface="+mn-lt"/>
              </a:rPr>
              <a:t> ne </a:t>
            </a:r>
            <a:r>
              <a:rPr lang="en-US" sz="1700" err="1">
                <a:ea typeface="+mn-lt"/>
                <a:cs typeface="+mn-lt"/>
              </a:rPr>
              <a:t>ajuta</a:t>
            </a:r>
            <a:r>
              <a:rPr lang="en-US" sz="1700">
                <a:ea typeface="+mn-lt"/>
                <a:cs typeface="+mn-lt"/>
              </a:rPr>
              <a:t> la </a:t>
            </a:r>
            <a:r>
              <a:rPr lang="en-US" sz="1700" err="1">
                <a:ea typeface="+mn-lt"/>
                <a:cs typeface="+mn-lt"/>
              </a:rPr>
              <a:t>dezvoltarea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unei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soluții</a:t>
            </a:r>
            <a:r>
              <a:rPr lang="en-US" sz="1700">
                <a:ea typeface="+mn-lt"/>
                <a:cs typeface="+mn-lt"/>
              </a:rPr>
              <a:t> de </a:t>
            </a:r>
            <a:r>
              <a:rPr lang="en-US" sz="1700" err="1">
                <a:ea typeface="+mn-lt"/>
                <a:cs typeface="+mn-lt"/>
              </a:rPr>
              <a:t>monitorizare</a:t>
            </a:r>
            <a:r>
              <a:rPr lang="en-US" sz="1700">
                <a:ea typeface="+mn-lt"/>
                <a:cs typeface="+mn-lt"/>
              </a:rPr>
              <a:t> de tip "Snapshot" </a:t>
            </a:r>
            <a:r>
              <a:rPr lang="en-US" sz="1700" err="1">
                <a:ea typeface="+mn-lt"/>
                <a:cs typeface="+mn-lt"/>
              </a:rPr>
              <a:t>pentru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sisteme</a:t>
            </a:r>
            <a:r>
              <a:rPr lang="en-US" sz="1700">
                <a:ea typeface="+mn-lt"/>
                <a:cs typeface="+mn-lt"/>
              </a:rPr>
              <a:t> Linux.</a:t>
            </a:r>
            <a:endParaRPr lang="en-US" sz="1700"/>
          </a:p>
          <a:p>
            <a:r>
              <a:rPr lang="en-US" sz="1700" err="1">
                <a:ea typeface="+mn-lt"/>
                <a:cs typeface="+mn-lt"/>
              </a:rPr>
              <a:t>Automatizarea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detectării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modificărilor</a:t>
            </a:r>
            <a:r>
              <a:rPr lang="en-US" sz="1700">
                <a:ea typeface="+mn-lt"/>
                <a:cs typeface="+mn-lt"/>
              </a:rPr>
              <a:t> de </a:t>
            </a:r>
            <a:r>
              <a:rPr lang="en-US" sz="1700" err="1">
                <a:ea typeface="+mn-lt"/>
                <a:cs typeface="+mn-lt"/>
              </a:rPr>
              <a:t>spațiu</a:t>
            </a:r>
            <a:r>
              <a:rPr lang="en-US" sz="1700">
                <a:ea typeface="+mn-lt"/>
                <a:cs typeface="+mn-lt"/>
              </a:rPr>
              <a:t> pe disc </a:t>
            </a:r>
            <a:r>
              <a:rPr lang="en-US" sz="1700" err="1">
                <a:ea typeface="+mn-lt"/>
                <a:cs typeface="+mn-lt"/>
              </a:rPr>
              <a:t>și</a:t>
            </a:r>
            <a:r>
              <a:rPr lang="en-US" sz="1700">
                <a:ea typeface="+mn-lt"/>
                <a:cs typeface="+mn-lt"/>
              </a:rPr>
              <a:t> a </a:t>
            </a:r>
            <a:r>
              <a:rPr lang="en-US" sz="1700" err="1">
                <a:ea typeface="+mn-lt"/>
                <a:cs typeface="+mn-lt"/>
              </a:rPr>
              <a:t>integrității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fișierelor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dintr</a:t>
            </a:r>
            <a:r>
              <a:rPr lang="en-US" sz="1700">
                <a:ea typeface="+mn-lt"/>
                <a:cs typeface="+mn-lt"/>
              </a:rPr>
              <a:t>-un director </a:t>
            </a:r>
            <a:r>
              <a:rPr lang="en-US" sz="1700" err="1">
                <a:ea typeface="+mn-lt"/>
                <a:cs typeface="+mn-lt"/>
              </a:rPr>
              <a:t>specific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/>
          </a:p>
          <a:p>
            <a:r>
              <a:rPr lang="en-US" sz="1700" err="1">
                <a:ea typeface="+mn-lt"/>
                <a:cs typeface="+mn-lt"/>
              </a:rPr>
              <a:t>Generarea</a:t>
            </a:r>
            <a:r>
              <a:rPr lang="en-US" sz="1700">
                <a:ea typeface="+mn-lt"/>
                <a:cs typeface="+mn-lt"/>
              </a:rPr>
              <a:t> de </a:t>
            </a:r>
            <a:r>
              <a:rPr lang="en-US" sz="1700" err="1">
                <a:ea typeface="+mn-lt"/>
                <a:cs typeface="+mn-lt"/>
              </a:rPr>
              <a:t>rapoarte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vizuale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în</a:t>
            </a:r>
            <a:r>
              <a:rPr lang="en-US" sz="1700">
                <a:ea typeface="+mn-lt"/>
                <a:cs typeface="+mn-lt"/>
              </a:rPr>
              <a:t> terminal </a:t>
            </a:r>
            <a:r>
              <a:rPr lang="en-US" sz="1700" err="1">
                <a:ea typeface="+mn-lt"/>
                <a:cs typeface="+mn-lt"/>
              </a:rPr>
              <a:t>folosind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coduri</a:t>
            </a:r>
            <a:r>
              <a:rPr lang="en-US" sz="1700">
                <a:ea typeface="+mn-lt"/>
                <a:cs typeface="+mn-lt"/>
              </a:rPr>
              <a:t> de </a:t>
            </a:r>
            <a:r>
              <a:rPr lang="en-US" sz="1700" err="1">
                <a:ea typeface="+mn-lt"/>
                <a:cs typeface="+mn-lt"/>
              </a:rPr>
              <a:t>culori</a:t>
            </a:r>
            <a:r>
              <a:rPr lang="en-US" sz="1700">
                <a:ea typeface="+mn-lt"/>
                <a:cs typeface="+mn-lt"/>
              </a:rPr>
              <a:t> (ANSI escape codes) </a:t>
            </a:r>
            <a:r>
              <a:rPr lang="en-US" sz="1700" err="1">
                <a:ea typeface="+mn-lt"/>
                <a:cs typeface="+mn-lt"/>
              </a:rPr>
              <a:t>pentru</a:t>
            </a:r>
            <a:r>
              <a:rPr lang="en-US" sz="1700">
                <a:ea typeface="+mn-lt"/>
                <a:cs typeface="+mn-lt"/>
              </a:rPr>
              <a:t> o </a:t>
            </a:r>
            <a:r>
              <a:rPr lang="en-US" sz="1700" err="1">
                <a:ea typeface="+mn-lt"/>
                <a:cs typeface="+mn-lt"/>
              </a:rPr>
              <a:t>identificare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rapidă</a:t>
            </a:r>
            <a:r>
              <a:rPr lang="en-US" sz="1700">
                <a:ea typeface="+mn-lt"/>
                <a:cs typeface="+mn-lt"/>
              </a:rPr>
              <a:t> a </a:t>
            </a:r>
            <a:r>
              <a:rPr lang="en-US" sz="1700" err="1">
                <a:ea typeface="+mn-lt"/>
                <a:cs typeface="+mn-lt"/>
              </a:rPr>
              <a:t>alertelor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/>
          </a:p>
          <a:p>
            <a:r>
              <a:rPr lang="en-US" sz="1700" b="1" err="1">
                <a:ea typeface="+mn-lt"/>
                <a:cs typeface="+mn-lt"/>
              </a:rPr>
              <a:t>Tehnologii</a:t>
            </a:r>
            <a:r>
              <a:rPr lang="en-US" sz="1700" b="1">
                <a:ea typeface="+mn-lt"/>
                <a:cs typeface="+mn-lt"/>
              </a:rPr>
              <a:t> </a:t>
            </a:r>
            <a:r>
              <a:rPr lang="en-US" sz="1700" b="1" err="1">
                <a:ea typeface="+mn-lt"/>
                <a:cs typeface="+mn-lt"/>
              </a:rPr>
              <a:t>utilizate</a:t>
            </a:r>
            <a:r>
              <a:rPr lang="en-US" sz="1700" b="1">
                <a:ea typeface="+mn-lt"/>
                <a:cs typeface="+mn-lt"/>
              </a:rPr>
              <a:t>:</a:t>
            </a:r>
            <a:r>
              <a:rPr lang="en-US" sz="1700">
                <a:ea typeface="+mn-lt"/>
                <a:cs typeface="+mn-lt"/>
              </a:rPr>
              <a:t> Bash Scripting, </a:t>
            </a:r>
            <a:r>
              <a:rPr lang="en-US" sz="1700" err="1">
                <a:ea typeface="+mn-lt"/>
                <a:cs typeface="+mn-lt"/>
              </a:rPr>
              <a:t>utilitare</a:t>
            </a:r>
            <a:r>
              <a:rPr lang="en-US" sz="1700">
                <a:ea typeface="+mn-lt"/>
                <a:cs typeface="+mn-lt"/>
              </a:rPr>
              <a:t> de </a:t>
            </a:r>
            <a:r>
              <a:rPr lang="en-US" sz="1700" err="1">
                <a:ea typeface="+mn-lt"/>
                <a:cs typeface="+mn-lt"/>
              </a:rPr>
              <a:t>procesare</a:t>
            </a:r>
            <a:r>
              <a:rPr lang="en-US" sz="1700">
                <a:ea typeface="+mn-lt"/>
                <a:cs typeface="+mn-lt"/>
              </a:rPr>
              <a:t> text (Awk, Grep, Sed).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Repository-ul </a:t>
            </a:r>
            <a:r>
              <a:rPr lang="en-US" sz="1700" b="1" err="1">
                <a:ea typeface="+mn-lt"/>
                <a:cs typeface="+mn-lt"/>
              </a:rPr>
              <a:t>proiectului</a:t>
            </a:r>
            <a:r>
              <a:rPr lang="en-US" sz="1700" b="1">
                <a:ea typeface="+mn-lt"/>
                <a:cs typeface="+mn-lt"/>
              </a:rPr>
              <a:t>: </a:t>
            </a:r>
            <a:r>
              <a:rPr lang="en-US" sz="1700">
                <a:ea typeface="+mn-lt"/>
                <a:cs typeface="+mn-lt"/>
                <a:hlinkClick r:id="rId1"/>
              </a:rPr>
              <a:t>Repo_link</a:t>
            </a:r>
            <a:r>
              <a:rPr lang="en-US" sz="1700">
                <a:ea typeface="+mn-lt"/>
                <a:cs typeface="+mn-lt"/>
              </a:rPr>
              <a:t> </a:t>
            </a:r>
            <a:endParaRPr lang="en-US" sz="1700"/>
          </a:p>
          <a:p>
            <a:endParaRPr lang="en-US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/>
            <p:cNvSpPr/>
            <p:nvPr/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Utilitare și Comenzi Shell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6838" y="353855"/>
            <a:ext cx="6197629" cy="61488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Acest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slide 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explică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modul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în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care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obținem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datele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brute din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sistem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/>
            <a:r>
              <a:rPr lang="en-US" sz="15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df</a:t>
            </a: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 –P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Comanda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df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folosită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cu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parametrul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-P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(POSIX output)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extrage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gradul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ocupare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al parti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ț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iei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root.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Parametrul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-P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este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esențial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asigura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un format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standardizat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pe o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singură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linie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indiferent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lungimea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numelui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sistemului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fișiere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 De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asemenea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se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foloseste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comanda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script cu –q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–c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executa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"ls -l;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df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-P /"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în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mod neinteractiv.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1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/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ls –l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Utilizat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genera un "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instantaneu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" al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directorului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curent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Extrage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metadate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critice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permisiuni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număr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legături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proprietar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mărime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(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în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bytes)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și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data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ultimei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modificări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   </a:t>
            </a:r>
            <a:r>
              <a:rPr lang="en-US" sz="1500" b="1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exemplu</a:t>
            </a: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 script -q -c "ls -l;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df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-P /" RAW_VECHI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50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342900" indent="-34290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+mn-lt"/>
                <a:cs typeface="+mn-lt"/>
              </a:rPr>
              <a:t>col -b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Deoarece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comanda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+mn-lt"/>
                <a:cs typeface="+mn-lt"/>
              </a:rPr>
              <a:t>script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salvează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și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caracterele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control (backspaces,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culori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),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+mn-lt"/>
                <a:cs typeface="+mn-lt"/>
              </a:rPr>
              <a:t>col -b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fost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necesar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curăța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fișierele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+mn-lt"/>
                <a:cs typeface="+mn-lt"/>
              </a:rPr>
              <a:t>.raw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și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a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obține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un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text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pur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(plain text)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în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fișierele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.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+mn-lt"/>
                <a:cs typeface="+mn-lt"/>
              </a:rPr>
              <a:t>txt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       </a:t>
            </a:r>
            <a:r>
              <a:rPr lang="en-US" sz="14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exemplu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+mn-lt"/>
                <a:cs typeface="+mn-lt"/>
              </a:rPr>
              <a:t>col -b &lt; RAW_VECHI &gt; TXT_VECHI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/>
              <a:ea typeface="+mn-lt"/>
              <a:cs typeface="+mn-lt"/>
            </a:endParaRPr>
          </a:p>
          <a:p>
            <a:pPr marL="0" indent="0">
              <a:buNone/>
            </a:pP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/>
              <a:ea typeface="+mn-lt"/>
              <a:cs typeface="+mn-lt"/>
            </a:endParaRPr>
          </a:p>
          <a:p>
            <a:pPr marL="342900" indent="-34290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Tr –d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 Este o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utilitară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care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citește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text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și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înlocuiește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sau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șterge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anumite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caractere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efectiv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"transliterate" / "translate" ,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parametrul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–d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îi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spune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comenzii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să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șteargă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parametrul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pe care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îl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dăm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  </a:t>
            </a:r>
            <a:r>
              <a:rPr lang="en-US" sz="1400" b="1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exemplu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: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tr -d '\r' &lt; status_vechi.txt &gt; status_vechi_clean.txt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 </a:t>
            </a:r>
            <a:endParaRPr lang="en-US" sz="1400" b="1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/>
          <p:cNvGrpSpPr>
            <a:grpSpLocks noGrp="1" noRot="1" noChangeAspect="1" noMove="1" noResize="1" noUngrp="1"/>
          </p:cNvGrpSpPr>
          <p:nvPr/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/>
            <p:cNvSpPr/>
            <p:nvPr/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Utilitare și Comenzi Shell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9700" y="1712349"/>
            <a:ext cx="6969341" cy="44907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Urm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ă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toarele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comenzi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reprezint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ă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cum am  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curățat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și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filtrat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datele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le face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comparabile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/>
            </a:endParaRPr>
          </a:p>
          <a:p>
            <a:pPr marL="342900" indent="-342900"/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marL="0" indent="0">
              <a:buNone/>
            </a:pP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/>
            </a:endParaRPr>
          </a:p>
          <a:p>
            <a:pPr marL="342900" indent="-34290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grep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Folosit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filtrare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selectivă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800100" lvl="1" indent="-342900">
              <a:buAutoNum type="alphaLcParenR"/>
            </a:pP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grep " /$"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izola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doar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linia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care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descrie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partiția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principală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800100" lvl="1" indent="-342900">
              <a:buAutoNum type="alphaLcParenR"/>
            </a:pP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grep "^[-d]"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extrage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doar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liniile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care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reprezintă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fișiere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(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-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)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sau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directoare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(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d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),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ignorând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alte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informații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irelevante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din output-ul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ls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 </a:t>
            </a:r>
            <a:r>
              <a:rPr lang="en-US" sz="1400" b="1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exemplu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: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grep "^[-d]" "$TXT_VECHI"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marL="342900" indent="-342900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tr -s ' '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Utilizat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"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comprima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"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spațiile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multiple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într-unul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singur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Acest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pas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este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vital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ca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utilitarul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awk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să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numere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corect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coloanele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indiferent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mărimea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fișierelor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   </a:t>
            </a:r>
            <a:r>
              <a:rPr lang="en-US" sz="14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exemplu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tr -s ' ' &gt; /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tmp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/</a:t>
            </a:r>
            <a:r>
              <a:rPr lang="en-US" sz="140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lista_veche.tmp</a:t>
            </a:r>
            <a:endParaRPr lang="en-US" sz="1400" err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400">
              <a:solidFill>
                <a:schemeClr val="tx2"/>
              </a:solidFill>
            </a:endParaRPr>
          </a:p>
          <a:p>
            <a:endParaRPr lang="en-US" sz="1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/>
          <p:cNvGrpSpPr>
            <a:grpSpLocks noGrp="1" noRot="1" noChangeAspect="1" noMove="1" noResize="1" noUngrp="1"/>
          </p:cNvGrpSpPr>
          <p:nvPr/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/>
            <p:cNvSpPr/>
            <p:nvPr/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Utilitare și Comenzi Shell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6377" y="793467"/>
            <a:ext cx="5624635" cy="56673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Acest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slide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descrie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comenzile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care fac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legătura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între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monitorizare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și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testare</a:t>
            </a: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just"/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awk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 Modul de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extracție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datelor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 L-am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folosit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izola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coloana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3 (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spațiu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ocupat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),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coloana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5 (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mărimea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fișierului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)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și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$NF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(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ultimul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câmp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care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reprezintă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numele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fișierului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).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   </a:t>
            </a:r>
            <a:r>
              <a:rPr lang="en-US" sz="1500" b="1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exemplu</a:t>
            </a: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: 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size_nou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=$(echo "$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linie_noua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" | awk '{print $5}')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1500" b="1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marL="342900" indent="-342900" algn="just"/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dd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: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Folosit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genera un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fișier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test de fix 500 MB (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bs=1M count=500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).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Această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comandă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ne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permite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testăm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dacă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scriptul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monitorizare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detectează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corect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scăderea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spațiului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liber pe disc.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   </a:t>
            </a:r>
            <a:r>
              <a:rPr lang="en-US" sz="1500" b="1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exemplu</a:t>
            </a: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: 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dd if=/dev/zero of=$FISIER_MARE bs=1M count=500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1500" b="1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marL="342900" indent="-342900" algn="just"/>
            <a:r>
              <a:rPr lang="en-US" sz="1500" b="1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chmod</a:t>
            </a: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 +x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Utilizat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în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demo.sh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pentru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 ne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asigura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scriptul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analiză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are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drepturi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execuție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înainte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a fi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apelat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prevenind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erorile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de tip "Permission denied".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   </a:t>
            </a:r>
            <a:r>
              <a:rPr lang="en-US" sz="15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exemplu</a:t>
            </a:r>
            <a:r>
              <a:rPr 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: </a:t>
            </a:r>
            <a:r>
              <a:rPr lang="en-US" sz="150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chmod</a:t>
            </a: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 +x monitor.sh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/>
            </a:endParaRPr>
          </a:p>
          <a:p>
            <a:pPr marL="0" indent="0">
              <a:buNone/>
            </a:pPr>
            <a:endParaRPr lang="en-US" sz="1500" b="1">
              <a:solidFill>
                <a:schemeClr val="tx2"/>
              </a:solidFill>
            </a:endParaRPr>
          </a:p>
          <a:p>
            <a:pPr marL="457200" indent="-457200"/>
            <a:endParaRPr lang="en-US" sz="15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6" name="Arc 10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>
            <a:normAutofit/>
          </a:bodyPr>
          <a:lstStyle/>
          <a:p>
            <a:br>
              <a:rPr lang="en-US" sz="3100" kern="1200">
                <a:latin typeface="+mj-lt"/>
                <a:ea typeface="+mj-ea"/>
                <a:cs typeface="+mj-cs"/>
              </a:rPr>
            </a:br>
            <a:r>
              <a:rPr lang="en-US" sz="3100" kern="1200">
                <a:latin typeface="+mj-lt"/>
                <a:ea typeface="+mj-ea"/>
                <a:cs typeface="+mj-cs"/>
              </a:rPr>
              <a:t>Monitorizarea Evoluției Discului</a:t>
            </a:r>
            <a:endParaRPr lang="en-US" sz="3100" kern="1200">
              <a:latin typeface="+mj-lt"/>
              <a:ea typeface="+mj-ea"/>
              <a:cs typeface="+mj-cs"/>
            </a:endParaRPr>
          </a:p>
          <a:p>
            <a:endParaRPr lang="en-US" sz="3100" kern="1200">
              <a:latin typeface="+mj-lt"/>
              <a:ea typeface="+mj-ea"/>
              <a:cs typeface="+mj-cs"/>
            </a:endParaRPr>
          </a:p>
        </p:txBody>
      </p:sp>
      <p:sp>
        <p:nvSpPr>
          <p:cNvPr id="108" name="Freeform: Shape 10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computer screen shot of a pro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82" y="1516780"/>
            <a:ext cx="4777381" cy="365469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8" name="Content Placeholder 55"/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err="1">
                <a:ea typeface="+mn-lt"/>
                <a:cs typeface="+mn-lt"/>
              </a:rPr>
              <a:t>Captura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datelor</a:t>
            </a:r>
            <a:r>
              <a:rPr lang="en-US" sz="1800" b="1">
                <a:ea typeface="+mn-lt"/>
                <a:cs typeface="+mn-lt"/>
              </a:rPr>
              <a:t>: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Izolăm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linia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aferentă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partiției</a:t>
            </a:r>
            <a:r>
              <a:rPr lang="en-US" sz="1800">
                <a:ea typeface="+mn-lt"/>
                <a:cs typeface="+mn-lt"/>
              </a:rPr>
              <a:t> root (</a:t>
            </a:r>
            <a:r>
              <a:rPr lang="en-US" sz="1800">
                <a:latin typeface="Consolas" panose="020B0609020204030204"/>
              </a:rPr>
              <a:t>/</a:t>
            </a:r>
            <a:r>
              <a:rPr lang="en-US" sz="1800">
                <a:ea typeface="+mn-lt"/>
                <a:cs typeface="+mn-lt"/>
              </a:rPr>
              <a:t>) </a:t>
            </a:r>
            <a:r>
              <a:rPr lang="en-US" sz="1800" err="1">
                <a:ea typeface="+mn-lt"/>
                <a:cs typeface="+mn-lt"/>
              </a:rPr>
              <a:t>folosind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>
                <a:latin typeface="Consolas" panose="020B0609020204030204"/>
              </a:rPr>
              <a:t>grep " /$"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r>
              <a:rPr lang="en-US" sz="1800" b="1" err="1">
                <a:ea typeface="+mn-lt"/>
                <a:cs typeface="+mn-lt"/>
              </a:rPr>
              <a:t>Extracția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valorilor</a:t>
            </a:r>
            <a:r>
              <a:rPr lang="en-US" sz="1800" b="1">
                <a:ea typeface="+mn-lt"/>
                <a:cs typeface="+mn-lt"/>
              </a:rPr>
              <a:t>: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Folosim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>
                <a:latin typeface="Consolas" panose="020B0609020204030204"/>
              </a:rPr>
              <a:t>awk '{print $3}'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pentru</a:t>
            </a:r>
            <a:r>
              <a:rPr lang="en-US" sz="1800">
                <a:ea typeface="+mn-lt"/>
                <a:cs typeface="+mn-lt"/>
              </a:rPr>
              <a:t> a </a:t>
            </a:r>
            <a:r>
              <a:rPr lang="en-US" sz="1800" err="1">
                <a:ea typeface="+mn-lt"/>
                <a:cs typeface="+mn-lt"/>
              </a:rPr>
              <a:t>salva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doar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coloana</a:t>
            </a:r>
            <a:r>
              <a:rPr lang="en-US" sz="1800">
                <a:ea typeface="+mn-lt"/>
                <a:cs typeface="+mn-lt"/>
              </a:rPr>
              <a:t> cu </a:t>
            </a:r>
            <a:r>
              <a:rPr lang="en-US" sz="1800" err="1">
                <a:ea typeface="+mn-lt"/>
                <a:cs typeface="+mn-lt"/>
              </a:rPr>
              <a:t>spațiul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utilizat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r>
              <a:rPr lang="en-US" sz="1800" b="1" err="1">
                <a:ea typeface="+mn-lt"/>
                <a:cs typeface="+mn-lt"/>
              </a:rPr>
              <a:t>Comparație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matematică</a:t>
            </a:r>
            <a:r>
              <a:rPr lang="en-US" sz="1800" b="1">
                <a:ea typeface="+mn-lt"/>
                <a:cs typeface="+mn-lt"/>
              </a:rPr>
              <a:t>:</a:t>
            </a:r>
            <a:endParaRPr lang="en-US" sz="1800"/>
          </a:p>
          <a:p>
            <a:r>
              <a:rPr lang="en-US" sz="1800" err="1">
                <a:ea typeface="+mn-lt"/>
                <a:cs typeface="+mn-lt"/>
              </a:rPr>
              <a:t>Dacă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>
                <a:latin typeface="Consolas" panose="020B0609020204030204"/>
              </a:rPr>
              <a:t>USED_N &gt; USED_V</a:t>
            </a:r>
            <a:r>
              <a:rPr lang="en-US" sz="1800">
                <a:ea typeface="+mn-lt"/>
                <a:cs typeface="+mn-lt"/>
              </a:rPr>
              <a:t> →  </a:t>
            </a:r>
            <a:r>
              <a:rPr lang="en-US" sz="1800" err="1">
                <a:ea typeface="+mn-lt"/>
                <a:cs typeface="+mn-lt"/>
              </a:rPr>
              <a:t>Alertă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creștere</a:t>
            </a:r>
            <a:r>
              <a:rPr lang="en-US" sz="1800">
                <a:ea typeface="+mn-lt"/>
                <a:cs typeface="+mn-lt"/>
              </a:rPr>
              <a:t> (Roșu).</a:t>
            </a:r>
            <a:endParaRPr lang="en-US" sz="1800"/>
          </a:p>
          <a:p>
            <a:r>
              <a:rPr lang="en-US" sz="1800" err="1">
                <a:ea typeface="+mn-lt"/>
                <a:cs typeface="+mn-lt"/>
              </a:rPr>
              <a:t>Dacă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>
                <a:latin typeface="Consolas" panose="020B0609020204030204"/>
              </a:rPr>
              <a:t>USED_N &lt; USED_V</a:t>
            </a:r>
            <a:r>
              <a:rPr lang="en-US" sz="1800">
                <a:ea typeface="+mn-lt"/>
                <a:cs typeface="+mn-lt"/>
              </a:rPr>
              <a:t> → </a:t>
            </a:r>
            <a:r>
              <a:rPr lang="en-US" sz="1800" err="1">
                <a:ea typeface="+mn-lt"/>
                <a:cs typeface="+mn-lt"/>
              </a:rPr>
              <a:t>Confirmare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eliberare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spațiu</a:t>
            </a:r>
            <a:r>
              <a:rPr lang="en-US" sz="1800">
                <a:ea typeface="+mn-lt"/>
                <a:cs typeface="+mn-lt"/>
              </a:rPr>
              <a:t> (Verde).</a:t>
            </a:r>
            <a:endParaRPr lang="en-US" sz="1800"/>
          </a:p>
          <a:p>
            <a:r>
              <a:rPr lang="en-US" sz="1800" b="1" err="1">
                <a:ea typeface="+mn-lt"/>
                <a:cs typeface="+mn-lt"/>
              </a:rPr>
              <a:t>Conversia</a:t>
            </a:r>
            <a:r>
              <a:rPr lang="en-US" sz="1800" b="1">
                <a:ea typeface="+mn-lt"/>
                <a:cs typeface="+mn-lt"/>
              </a:rPr>
              <a:t>: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Rezultatul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este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calculat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în</a:t>
            </a:r>
            <a:r>
              <a:rPr lang="en-US" sz="1800">
                <a:ea typeface="+mn-lt"/>
                <a:cs typeface="+mn-lt"/>
              </a:rPr>
              <a:t> MB (</a:t>
            </a:r>
            <a:r>
              <a:rPr lang="en-US" sz="1800">
                <a:latin typeface="Consolas" panose="020B0609020204030204"/>
              </a:rPr>
              <a:t>DIF / 1024</a:t>
            </a:r>
            <a:r>
              <a:rPr lang="en-US" sz="1800">
                <a:ea typeface="+mn-lt"/>
                <a:cs typeface="+mn-lt"/>
              </a:rPr>
              <a:t>) </a:t>
            </a:r>
            <a:r>
              <a:rPr lang="en-US" sz="1800" err="1">
                <a:ea typeface="+mn-lt"/>
                <a:cs typeface="+mn-lt"/>
              </a:rPr>
              <a:t>pentru</a:t>
            </a:r>
            <a:r>
              <a:rPr lang="en-US" sz="1800">
                <a:ea typeface="+mn-lt"/>
                <a:cs typeface="+mn-lt"/>
              </a:rPr>
              <a:t> o </a:t>
            </a:r>
            <a:r>
              <a:rPr lang="en-US" sz="1800" err="1">
                <a:ea typeface="+mn-lt"/>
                <a:cs typeface="+mn-lt"/>
              </a:rPr>
              <a:t>citire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mai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rapidă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/>
          <p:cNvGrpSpPr>
            <a:grpSpLocks noGrp="1" noRot="1" noChangeAspect="1" noMove="1" noResize="1" noUngrp="1"/>
          </p:cNvGrpSpPr>
          <p:nvPr/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300">
                <a:ea typeface="+mj-lt"/>
                <a:cs typeface="+mj-lt"/>
              </a:rPr>
              <a:t>Identificarea Fișierelor Apărute</a:t>
            </a:r>
            <a:endParaRPr lang="en-US" sz="3300"/>
          </a:p>
        </p:txBody>
      </p:sp>
      <p:sp>
        <p:nvSpPr>
          <p:cNvPr id="31" name="Content Placeholder 7"/>
          <p:cNvSpPr>
            <a:spLocks noGrp="1"/>
          </p:cNvSpPr>
          <p:nvPr>
            <p:ph idx="1"/>
          </p:nvPr>
        </p:nvSpPr>
        <p:spPr>
          <a:xfrm>
            <a:off x="126147" y="2076485"/>
            <a:ext cx="6560451" cy="4125359"/>
          </a:xfrm>
        </p:spPr>
        <p:txBody>
          <a:bodyPr anchor="ctr">
            <a:normAutofit/>
          </a:bodyPr>
          <a:lstStyle/>
          <a:p>
            <a:pPr>
              <a:buChar char="•"/>
            </a:pPr>
            <a:r>
              <a:rPr lang="en-US" sz="1800" b="1"/>
              <a:t>Sursa </a:t>
            </a:r>
            <a:r>
              <a:rPr lang="en-US" sz="1800" b="1" err="1"/>
              <a:t>datelor</a:t>
            </a:r>
            <a:r>
              <a:rPr lang="en-US" sz="1800" b="1"/>
              <a:t>:</a:t>
            </a:r>
            <a:r>
              <a:rPr lang="en-US" sz="1800"/>
              <a:t> </a:t>
            </a:r>
            <a:r>
              <a:rPr lang="en-US" sz="1800" err="1"/>
              <a:t>Citim</a:t>
            </a:r>
            <a:r>
              <a:rPr lang="en-US" sz="1800"/>
              <a:t> </a:t>
            </a:r>
            <a:r>
              <a:rPr lang="en-US" sz="1800" err="1"/>
              <a:t>fișierul</a:t>
            </a:r>
            <a:r>
              <a:rPr lang="en-US" sz="1800"/>
              <a:t> </a:t>
            </a:r>
            <a:r>
              <a:rPr lang="en-US" sz="1800" err="1"/>
              <a:t>temporar</a:t>
            </a:r>
            <a:r>
              <a:rPr lang="en-US" sz="1800"/>
              <a:t> /</a:t>
            </a:r>
            <a:r>
              <a:rPr lang="en-US" sz="1800" err="1"/>
              <a:t>tmp</a:t>
            </a:r>
            <a:r>
              <a:rPr lang="en-US" sz="1800"/>
              <a:t>/</a:t>
            </a:r>
            <a:r>
              <a:rPr lang="en-US" sz="1800" err="1"/>
              <a:t>lista_noua.tmp</a:t>
            </a:r>
            <a:r>
              <a:rPr lang="en-US" sz="1800"/>
              <a:t>. Pe care l-am </a:t>
            </a:r>
            <a:r>
              <a:rPr lang="en-US" sz="1800" err="1"/>
              <a:t>creat</a:t>
            </a:r>
            <a:r>
              <a:rPr lang="en-US" sz="1800"/>
              <a:t> cu </a:t>
            </a:r>
            <a:r>
              <a:rPr lang="en-US" sz="1800" err="1"/>
              <a:t>ajutorul</a:t>
            </a:r>
            <a:r>
              <a:rPr lang="en-US" sz="1800"/>
              <a:t> </a:t>
            </a:r>
            <a:r>
              <a:rPr lang="en-US" sz="1800" err="1"/>
              <a:t>fisierelor</a:t>
            </a:r>
            <a:r>
              <a:rPr lang="en-US" sz="1800"/>
              <a:t> typescript pe care am </a:t>
            </a:r>
            <a:r>
              <a:rPr lang="en-US" sz="1800" err="1"/>
              <a:t>apelat</a:t>
            </a:r>
            <a:r>
              <a:rPr lang="en-US" sz="1800"/>
              <a:t> </a:t>
            </a:r>
            <a:r>
              <a:rPr lang="en-US" sz="1800" err="1"/>
              <a:t>funcția</a:t>
            </a:r>
            <a:r>
              <a:rPr lang="en-US" sz="1800"/>
              <a:t>, </a:t>
            </a:r>
            <a:r>
              <a:rPr lang="en-US" sz="1800" err="1"/>
              <a:t>si</a:t>
            </a:r>
            <a:r>
              <a:rPr lang="en-US" sz="1800"/>
              <a:t> "</a:t>
            </a:r>
            <a:r>
              <a:rPr lang="en-US" sz="1800" err="1"/>
              <a:t>aranjat</a:t>
            </a:r>
            <a:r>
              <a:rPr lang="en-US" sz="1800"/>
              <a:t>" cu </a:t>
            </a:r>
            <a:r>
              <a:rPr lang="en-US" sz="1800" err="1"/>
              <a:t>ajutorul</a:t>
            </a:r>
            <a:r>
              <a:rPr lang="en-US" sz="1800"/>
              <a:t> grep care </a:t>
            </a:r>
            <a:r>
              <a:rPr lang="en-US" sz="1800" err="1"/>
              <a:t>îb</a:t>
            </a:r>
            <a:r>
              <a:rPr lang="en-US" sz="1800"/>
              <a:t> </a:t>
            </a:r>
            <a:r>
              <a:rPr lang="en-US" sz="1800" err="1"/>
              <a:t>acest</a:t>
            </a:r>
            <a:r>
              <a:rPr lang="en-US" sz="1800"/>
              <a:t> </a:t>
            </a:r>
            <a:r>
              <a:rPr lang="en-US" sz="1800" err="1"/>
              <a:t>caz</a:t>
            </a:r>
            <a:r>
              <a:rPr lang="en-US" sz="1800"/>
              <a:t> </a:t>
            </a:r>
            <a:r>
              <a:rPr lang="en-US" sz="1800" err="1"/>
              <a:t>elimină</a:t>
            </a:r>
            <a:r>
              <a:rPr lang="en-US" sz="1800"/>
              <a:t> </a:t>
            </a:r>
            <a:r>
              <a:rPr lang="en-US" sz="1800" err="1"/>
              <a:t>liniile</a:t>
            </a:r>
            <a:r>
              <a:rPr lang="en-US" sz="1800"/>
              <a:t> inutile create de </a:t>
            </a:r>
            <a:r>
              <a:rPr lang="en-US" sz="1800" err="1"/>
              <a:t>comanda</a:t>
            </a:r>
            <a:r>
              <a:rPr lang="en-US" sz="1800"/>
              <a:t> ls –l.</a:t>
            </a:r>
            <a:endParaRPr lang="en-US" sz="1800"/>
          </a:p>
          <a:p>
            <a:pPr marL="228600" indent="-228600">
              <a:buChar char="•"/>
            </a:pPr>
            <a:r>
              <a:rPr lang="en-US" sz="1800" b="1" err="1"/>
              <a:t>Parsare</a:t>
            </a:r>
            <a:r>
              <a:rPr lang="en-US" sz="1800" b="1"/>
              <a:t> cu awk:</a:t>
            </a:r>
            <a:r>
              <a:rPr lang="en-US" sz="1800"/>
              <a:t> </a:t>
            </a:r>
            <a:r>
              <a:rPr lang="en-US" sz="1800" err="1"/>
              <a:t>Folosim</a:t>
            </a:r>
            <a:r>
              <a:rPr lang="en-US" sz="1800"/>
              <a:t> </a:t>
            </a:r>
            <a:r>
              <a:rPr lang="en-US" sz="1800" err="1"/>
              <a:t>variabila</a:t>
            </a:r>
            <a:r>
              <a:rPr lang="en-US" sz="1800"/>
              <a:t> $NF </a:t>
            </a:r>
            <a:r>
              <a:rPr lang="en-US" sz="1800" err="1"/>
              <a:t>pentru</a:t>
            </a:r>
            <a:r>
              <a:rPr lang="en-US" sz="1800"/>
              <a:t> a </a:t>
            </a:r>
            <a:r>
              <a:rPr lang="en-US" sz="1800" err="1"/>
              <a:t>extrage</a:t>
            </a:r>
            <a:r>
              <a:rPr lang="en-US" sz="1800"/>
              <a:t> </a:t>
            </a:r>
            <a:r>
              <a:rPr lang="en-US" sz="1800" err="1"/>
              <a:t>corect</a:t>
            </a:r>
            <a:r>
              <a:rPr lang="en-US" sz="1800"/>
              <a:t> </a:t>
            </a:r>
            <a:r>
              <a:rPr lang="en-US" sz="1800" err="1"/>
              <a:t>numele</a:t>
            </a:r>
            <a:r>
              <a:rPr lang="en-US" sz="1800"/>
              <a:t> </a:t>
            </a:r>
            <a:r>
              <a:rPr lang="en-US" sz="1800" err="1"/>
              <a:t>fișierului</a:t>
            </a:r>
            <a:r>
              <a:rPr lang="en-US" sz="1800"/>
              <a:t>, </a:t>
            </a:r>
            <a:r>
              <a:rPr lang="en-US" sz="1800" err="1"/>
              <a:t>indiferent</a:t>
            </a:r>
            <a:r>
              <a:rPr lang="en-US" sz="1800"/>
              <a:t> de </a:t>
            </a:r>
            <a:r>
              <a:rPr lang="en-US" sz="1800" err="1"/>
              <a:t>numărul</a:t>
            </a:r>
            <a:r>
              <a:rPr lang="en-US" sz="1800"/>
              <a:t> de </a:t>
            </a:r>
            <a:r>
              <a:rPr lang="en-US" sz="1800" err="1"/>
              <a:t>coloane</a:t>
            </a:r>
            <a:r>
              <a:rPr lang="en-US" sz="1800"/>
              <a:t> din ls -l.</a:t>
            </a:r>
            <a:endParaRPr lang="en-US" sz="1800"/>
          </a:p>
          <a:p>
            <a:pPr marL="228600" indent="-228600">
              <a:buChar char="•"/>
            </a:pPr>
            <a:r>
              <a:rPr lang="en-US" sz="1800" b="1"/>
              <a:t>Logica de </a:t>
            </a:r>
            <a:r>
              <a:rPr lang="en-US" sz="1800" b="1" err="1"/>
              <a:t>căutare</a:t>
            </a:r>
            <a:r>
              <a:rPr lang="en-US" sz="1800" b="1"/>
              <a:t>:</a:t>
            </a:r>
            <a:r>
              <a:rPr lang="en-US" sz="1800"/>
              <a:t> </a:t>
            </a:r>
            <a:r>
              <a:rPr lang="en-US" sz="1800" err="1"/>
              <a:t>Verificăm</a:t>
            </a:r>
            <a:r>
              <a:rPr lang="en-US" sz="1800"/>
              <a:t> </a:t>
            </a:r>
            <a:r>
              <a:rPr lang="en-US" sz="1800" err="1"/>
              <a:t>dacă</a:t>
            </a:r>
            <a:r>
              <a:rPr lang="en-US" sz="1800"/>
              <a:t> </a:t>
            </a:r>
            <a:r>
              <a:rPr lang="en-US" sz="1800" err="1"/>
              <a:t>fișierul</a:t>
            </a:r>
            <a:r>
              <a:rPr lang="en-US" sz="1800"/>
              <a:t> </a:t>
            </a:r>
            <a:r>
              <a:rPr lang="en-US" sz="1800" err="1"/>
              <a:t>curent</a:t>
            </a:r>
            <a:r>
              <a:rPr lang="en-US" sz="1800"/>
              <a:t> </a:t>
            </a:r>
            <a:r>
              <a:rPr lang="en-US" sz="1800" err="1"/>
              <a:t>există</a:t>
            </a:r>
            <a:r>
              <a:rPr lang="en-US" sz="1800"/>
              <a:t> </a:t>
            </a:r>
            <a:r>
              <a:rPr lang="en-US" sz="1800" err="1"/>
              <a:t>în</a:t>
            </a:r>
            <a:r>
              <a:rPr lang="en-US" sz="1800"/>
              <a:t> "snapshot-ul" </a:t>
            </a:r>
            <a:r>
              <a:rPr lang="en-US" sz="1800" err="1"/>
              <a:t>vechi</a:t>
            </a:r>
            <a:r>
              <a:rPr lang="en-US" sz="1800"/>
              <a:t> </a:t>
            </a:r>
            <a:r>
              <a:rPr lang="en-US" sz="1800" err="1"/>
              <a:t>folosind</a:t>
            </a:r>
            <a:r>
              <a:rPr lang="en-US" sz="1800"/>
              <a:t> grep.</a:t>
            </a:r>
            <a:endParaRPr lang="en-US" sz="1800"/>
          </a:p>
          <a:p>
            <a:pPr marL="228600" indent="-228600">
              <a:buChar char="•"/>
            </a:pPr>
            <a:r>
              <a:rPr lang="en-US" sz="1800" b="1"/>
              <a:t>Indicator </a:t>
            </a:r>
            <a:r>
              <a:rPr lang="en-US" sz="1800" b="1" err="1"/>
              <a:t>vizual</a:t>
            </a:r>
            <a:r>
              <a:rPr lang="en-US" sz="1800" b="1"/>
              <a:t>:</a:t>
            </a:r>
            <a:r>
              <a:rPr lang="en-US" sz="1800"/>
              <a:t> </a:t>
            </a:r>
            <a:r>
              <a:rPr lang="en-US" sz="1800" err="1"/>
              <a:t>Dacă</a:t>
            </a:r>
            <a:r>
              <a:rPr lang="en-US" sz="1800"/>
              <a:t> </a:t>
            </a:r>
            <a:r>
              <a:rPr lang="en-US" sz="1800" err="1"/>
              <a:t>fișierul</a:t>
            </a:r>
            <a:r>
              <a:rPr lang="en-US" sz="1800"/>
              <a:t> </a:t>
            </a:r>
            <a:r>
              <a:rPr lang="en-US" sz="1800" err="1"/>
              <a:t>lipsește</a:t>
            </a:r>
            <a:r>
              <a:rPr lang="en-US" sz="1800"/>
              <a:t> din </a:t>
            </a:r>
            <a:r>
              <a:rPr lang="en-US" sz="1800" err="1"/>
              <a:t>lista</a:t>
            </a:r>
            <a:r>
              <a:rPr lang="en-US" sz="1800"/>
              <a:t> </a:t>
            </a:r>
            <a:r>
              <a:rPr lang="en-US" sz="1800" err="1"/>
              <a:t>veche</a:t>
            </a:r>
            <a:r>
              <a:rPr lang="en-US" sz="1800"/>
              <a:t>, </a:t>
            </a:r>
            <a:r>
              <a:rPr lang="en-US" sz="1800" err="1"/>
              <a:t>este</a:t>
            </a:r>
            <a:r>
              <a:rPr lang="en-US" sz="1800"/>
              <a:t> </a:t>
            </a:r>
            <a:r>
              <a:rPr lang="en-US" sz="1800" err="1"/>
              <a:t>marcat</a:t>
            </a:r>
            <a:r>
              <a:rPr lang="en-US" sz="1800"/>
              <a:t> cu tag-ul </a:t>
            </a:r>
            <a:r>
              <a:rPr lang="en-US" sz="1800" b="1"/>
              <a:t>[+] APARUT(NOU)</a:t>
            </a:r>
            <a:r>
              <a:rPr lang="en-US" sz="1800"/>
              <a:t>.</a:t>
            </a:r>
            <a:endParaRPr lang="en-US" sz="1800"/>
          </a:p>
        </p:txBody>
      </p:sp>
      <p:pic>
        <p:nvPicPr>
          <p:cNvPr id="4" name="Content Placeholder 3" descr="A screenshot of a computer program&#10;&#10;AI-generated content may be incorrect."/>
          <p:cNvPicPr>
            <a:picLocks noChangeAspect="1"/>
          </p:cNvPicPr>
          <p:nvPr/>
        </p:nvPicPr>
        <p:blipFill>
          <a:blip r:embed="rId1"/>
          <a:srcRect r="16289" b="3"/>
          <a:stretch>
            <a:fillRect/>
          </a:stretch>
        </p:blipFill>
        <p:spPr>
          <a:xfrm>
            <a:off x="6788383" y="613147"/>
            <a:ext cx="4565417" cy="5593443"/>
          </a:xfrm>
          <a:prstGeom prst="rect">
            <a:avLst/>
          </a:prstGeom>
        </p:spPr>
      </p:pic>
      <p:cxnSp>
        <p:nvCxnSpPr>
          <p:cNvPr id="27" name="Straight Connector 2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5600"/>
              <a:t>Monitorizarea Integrității Fișierelor</a:t>
            </a:r>
            <a:endParaRPr lang="en-US" sz="5600"/>
          </a:p>
        </p:txBody>
      </p:sp>
      <p:pic>
        <p:nvPicPr>
          <p:cNvPr id="4" name="Picture 3" descr="A black background with white text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414" y="3596750"/>
            <a:ext cx="4035024" cy="76533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260" y="3008717"/>
            <a:ext cx="5062887" cy="27177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1400" b="1" err="1">
                <a:ea typeface="+mn-lt"/>
                <a:cs typeface="+mn-lt"/>
              </a:rPr>
              <a:t>Criteriu</a:t>
            </a:r>
            <a:r>
              <a:rPr lang="en-US" sz="1400" b="1">
                <a:ea typeface="+mn-lt"/>
                <a:cs typeface="+mn-lt"/>
              </a:rPr>
              <a:t> de </a:t>
            </a:r>
            <a:r>
              <a:rPr lang="en-US" sz="1400" b="1" err="1">
                <a:ea typeface="+mn-lt"/>
                <a:cs typeface="+mn-lt"/>
              </a:rPr>
              <a:t>modificare</a:t>
            </a:r>
            <a:r>
              <a:rPr lang="en-US" sz="1400" b="1">
                <a:ea typeface="+mn-lt"/>
                <a:cs typeface="+mn-lt"/>
              </a:rPr>
              <a:t>: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Chiar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dacă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numele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fișierului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există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în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ambele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liste</a:t>
            </a:r>
            <a:r>
              <a:rPr lang="en-US" sz="1400">
                <a:ea typeface="+mn-lt"/>
                <a:cs typeface="+mn-lt"/>
              </a:rPr>
              <a:t>, </a:t>
            </a:r>
            <a:r>
              <a:rPr lang="en-US" sz="1400" err="1">
                <a:ea typeface="+mn-lt"/>
                <a:cs typeface="+mn-lt"/>
              </a:rPr>
              <a:t>verificăm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dacă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dimensiunea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în</a:t>
            </a:r>
            <a:r>
              <a:rPr lang="en-US" sz="1400">
                <a:ea typeface="+mn-lt"/>
                <a:cs typeface="+mn-lt"/>
              </a:rPr>
              <a:t> bytes (</a:t>
            </a:r>
            <a:r>
              <a:rPr lang="en-US" sz="1400" err="1">
                <a:ea typeface="+mn-lt"/>
                <a:cs typeface="+mn-lt"/>
              </a:rPr>
              <a:t>coloana</a:t>
            </a:r>
            <a:r>
              <a:rPr lang="en-US" sz="1400">
                <a:ea typeface="+mn-lt"/>
                <a:cs typeface="+mn-lt"/>
              </a:rPr>
              <a:t> 5 din </a:t>
            </a:r>
            <a:r>
              <a:rPr lang="en-US" sz="1400">
                <a:latin typeface="Consolas" panose="020B0609020204030204"/>
              </a:rPr>
              <a:t>ls</a:t>
            </a:r>
            <a:r>
              <a:rPr lang="en-US" sz="1400">
                <a:ea typeface="+mn-lt"/>
                <a:cs typeface="+mn-lt"/>
              </a:rPr>
              <a:t>) a </a:t>
            </a:r>
            <a:r>
              <a:rPr lang="en-US" sz="1400" err="1">
                <a:ea typeface="+mn-lt"/>
                <a:cs typeface="+mn-lt"/>
              </a:rPr>
              <a:t>rămas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aceeași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algn="just"/>
            <a:r>
              <a:rPr lang="en-US" sz="1400" b="1" err="1">
                <a:ea typeface="+mn-lt"/>
                <a:cs typeface="+mn-lt"/>
              </a:rPr>
              <a:t>Detecție</a:t>
            </a:r>
            <a:r>
              <a:rPr lang="en-US" sz="1400" b="1">
                <a:ea typeface="+mn-lt"/>
                <a:cs typeface="+mn-lt"/>
              </a:rPr>
              <a:t> </a:t>
            </a:r>
            <a:r>
              <a:rPr lang="en-US" sz="1400" b="1" err="1">
                <a:ea typeface="+mn-lt"/>
                <a:cs typeface="+mn-lt"/>
              </a:rPr>
              <a:t>precisă</a:t>
            </a:r>
            <a:r>
              <a:rPr lang="en-US" sz="1400" b="1">
                <a:ea typeface="+mn-lt"/>
                <a:cs typeface="+mn-lt"/>
              </a:rPr>
              <a:t>: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Identificăm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modificări</a:t>
            </a:r>
            <a:r>
              <a:rPr lang="en-US" sz="1400">
                <a:ea typeface="+mn-lt"/>
                <a:cs typeface="+mn-lt"/>
              </a:rPr>
              <a:t> care nu </a:t>
            </a:r>
            <a:r>
              <a:rPr lang="en-US" sz="1400" err="1">
                <a:ea typeface="+mn-lt"/>
                <a:cs typeface="+mn-lt"/>
              </a:rPr>
              <a:t>ar</a:t>
            </a:r>
            <a:r>
              <a:rPr lang="en-US" sz="1400">
                <a:ea typeface="+mn-lt"/>
                <a:cs typeface="+mn-lt"/>
              </a:rPr>
              <a:t> fi </a:t>
            </a:r>
            <a:r>
              <a:rPr lang="en-US" sz="1400" err="1">
                <a:ea typeface="+mn-lt"/>
                <a:cs typeface="+mn-lt"/>
              </a:rPr>
              <a:t>vizibile</a:t>
            </a:r>
            <a:r>
              <a:rPr lang="en-US" sz="1400">
                <a:ea typeface="+mn-lt"/>
                <a:cs typeface="+mn-lt"/>
              </a:rPr>
              <a:t> la o </a:t>
            </a:r>
            <a:r>
              <a:rPr lang="en-US" sz="1400" err="1">
                <a:ea typeface="+mn-lt"/>
                <a:cs typeface="+mn-lt"/>
              </a:rPr>
              <a:t>simplă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listare</a:t>
            </a:r>
            <a:r>
              <a:rPr lang="en-US" sz="1400">
                <a:ea typeface="+mn-lt"/>
                <a:cs typeface="+mn-lt"/>
              </a:rPr>
              <a:t> a </a:t>
            </a:r>
            <a:r>
              <a:rPr lang="en-US" sz="1400" err="1">
                <a:ea typeface="+mn-lt"/>
                <a:cs typeface="+mn-lt"/>
              </a:rPr>
              <a:t>numelor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algn="just"/>
            <a:r>
              <a:rPr lang="en-US" sz="1400" b="1">
                <a:ea typeface="+mn-lt"/>
                <a:cs typeface="+mn-lt"/>
              </a:rPr>
              <a:t>Feedback </a:t>
            </a:r>
            <a:r>
              <a:rPr lang="en-US" sz="1400" b="1" err="1">
                <a:ea typeface="+mn-lt"/>
                <a:cs typeface="+mn-lt"/>
              </a:rPr>
              <a:t>detaliat</a:t>
            </a:r>
            <a:r>
              <a:rPr lang="en-US" sz="1400" b="1">
                <a:ea typeface="+mn-lt"/>
                <a:cs typeface="+mn-lt"/>
              </a:rPr>
              <a:t>: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Scriptul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afișează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valoarea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veche</a:t>
            </a:r>
            <a:r>
              <a:rPr lang="en-US" sz="1400">
                <a:ea typeface="+mn-lt"/>
                <a:cs typeface="+mn-lt"/>
              </a:rPr>
              <a:t> versus </a:t>
            </a:r>
            <a:r>
              <a:rPr lang="en-US" sz="1400" err="1">
                <a:ea typeface="+mn-lt"/>
                <a:cs typeface="+mn-lt"/>
              </a:rPr>
              <a:t>valoarea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nouă</a:t>
            </a:r>
            <a:r>
              <a:rPr lang="en-US" sz="1400">
                <a:ea typeface="+mn-lt"/>
                <a:cs typeface="+mn-lt"/>
              </a:rPr>
              <a:t>, </a:t>
            </a:r>
            <a:r>
              <a:rPr lang="en-US" sz="1400" err="1">
                <a:ea typeface="+mn-lt"/>
                <a:cs typeface="+mn-lt"/>
              </a:rPr>
              <a:t>oferind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trasabilitate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algn="just"/>
            <a:r>
              <a:rPr lang="en-US" sz="1400" b="1">
                <a:ea typeface="+mn-lt"/>
                <a:cs typeface="+mn-lt"/>
              </a:rPr>
              <a:t>Flag de stare: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Utilizăm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variabila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>
                <a:latin typeface="Consolas" panose="020B0609020204030204"/>
              </a:rPr>
              <a:t>MODIFICARI_DETECTATE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pentru</a:t>
            </a:r>
            <a:r>
              <a:rPr lang="en-US" sz="1400">
                <a:ea typeface="+mn-lt"/>
                <a:cs typeface="+mn-lt"/>
              </a:rPr>
              <a:t> a </a:t>
            </a:r>
            <a:r>
              <a:rPr lang="en-US" sz="1400" err="1">
                <a:ea typeface="+mn-lt"/>
                <a:cs typeface="+mn-lt"/>
              </a:rPr>
              <a:t>asigura</a:t>
            </a:r>
            <a:r>
              <a:rPr lang="en-US" sz="1400">
                <a:ea typeface="+mn-lt"/>
                <a:cs typeface="+mn-lt"/>
              </a:rPr>
              <a:t> un </a:t>
            </a:r>
            <a:r>
              <a:rPr lang="en-US" sz="1400" err="1">
                <a:ea typeface="+mn-lt"/>
                <a:cs typeface="+mn-lt"/>
              </a:rPr>
              <a:t>raport</a:t>
            </a:r>
            <a:r>
              <a:rPr lang="en-US" sz="1400">
                <a:ea typeface="+mn-lt"/>
                <a:cs typeface="+mn-lt"/>
              </a:rPr>
              <a:t> final </a:t>
            </a:r>
            <a:r>
              <a:rPr lang="en-US" sz="1400" err="1">
                <a:ea typeface="+mn-lt"/>
                <a:cs typeface="+mn-lt"/>
              </a:rPr>
              <a:t>corect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endParaRPr lang="en-US" sz="1400"/>
          </a:p>
          <a:p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>
                <a:ea typeface="+mj-lt"/>
                <a:cs typeface="+mj-lt"/>
              </a:rPr>
              <a:t>Gestiunea Ștergerilor și Testarea Automatizată</a:t>
            </a:r>
            <a:endParaRPr lang="en-US" sz="410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6889" y="2509657"/>
            <a:ext cx="5707515" cy="40652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buFont typeface="Arial" panose="020B0604020202020204"/>
              <a:buChar char="•"/>
            </a:pPr>
            <a:r>
              <a:rPr lang="en-US" sz="1800" b="1" err="1">
                <a:ea typeface="+mn-lt"/>
                <a:cs typeface="+mn-lt"/>
              </a:rPr>
              <a:t>Logică</a:t>
            </a:r>
            <a:r>
              <a:rPr lang="en-US" sz="1800" b="1">
                <a:ea typeface="+mn-lt"/>
                <a:cs typeface="+mn-lt"/>
              </a:rPr>
              <a:t> </a:t>
            </a:r>
            <a:r>
              <a:rPr lang="en-US" sz="1800" b="1" err="1">
                <a:ea typeface="+mn-lt"/>
                <a:cs typeface="+mn-lt"/>
              </a:rPr>
              <a:t>inversă</a:t>
            </a:r>
            <a:r>
              <a:rPr lang="en-US" sz="1800" b="1">
                <a:ea typeface="+mn-lt"/>
                <a:cs typeface="+mn-lt"/>
              </a:rPr>
              <a:t>: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Parcurgem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lista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veche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și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verificăm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prezența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în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lista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nouă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pentru</a:t>
            </a:r>
            <a:r>
              <a:rPr lang="en-US" sz="1800">
                <a:ea typeface="+mn-lt"/>
                <a:cs typeface="+mn-lt"/>
              </a:rPr>
              <a:t> a </a:t>
            </a:r>
            <a:r>
              <a:rPr lang="en-US" sz="1800" err="1">
                <a:ea typeface="+mn-lt"/>
                <a:cs typeface="+mn-lt"/>
              </a:rPr>
              <a:t>detecta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fișierele</a:t>
            </a:r>
            <a:r>
              <a:rPr lang="en-US" sz="1800">
                <a:ea typeface="+mn-lt"/>
                <a:cs typeface="+mn-lt"/>
              </a:rPr>
              <a:t> eliminate (</a:t>
            </a:r>
            <a:r>
              <a:rPr lang="en-US" sz="1800" b="1">
                <a:ea typeface="+mn-lt"/>
                <a:cs typeface="+mn-lt"/>
              </a:rPr>
              <a:t>[-] STERS</a:t>
            </a:r>
            <a:r>
              <a:rPr lang="en-US" sz="1800">
                <a:ea typeface="+mn-lt"/>
                <a:cs typeface="+mn-lt"/>
              </a:rPr>
              <a:t>).</a:t>
            </a:r>
            <a:endParaRPr lang="en-US"/>
          </a:p>
          <a:p>
            <a:pPr algn="just">
              <a:buFont typeface="Arial" panose="020B0604020202020204"/>
              <a:buChar char="•"/>
            </a:pPr>
            <a:r>
              <a:rPr lang="en-US" sz="1800" b="1" err="1">
                <a:ea typeface="+mn-lt"/>
                <a:cs typeface="+mn-lt"/>
              </a:rPr>
              <a:t>Simularea</a:t>
            </a:r>
            <a:r>
              <a:rPr lang="en-US" sz="1800" b="1">
                <a:ea typeface="+mn-lt"/>
                <a:cs typeface="+mn-lt"/>
              </a:rPr>
              <a:t> (demo.sh):</a:t>
            </a:r>
            <a:endParaRPr lang="en-US" sz="1800"/>
          </a:p>
          <a:p>
            <a:pPr lvl="1" indent="-342900" algn="just">
              <a:buFont typeface="Courier New" panose="02070309020205020404"/>
              <a:buChar char="o"/>
            </a:pPr>
            <a:r>
              <a:rPr lang="en-US" sz="1600" err="1">
                <a:ea typeface="+mn-lt"/>
                <a:cs typeface="+mn-lt"/>
              </a:rPr>
              <a:t>Folosim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>
                <a:latin typeface="Consolas" panose="020B0609020204030204"/>
              </a:rPr>
              <a:t>dd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pentru</a:t>
            </a:r>
            <a:r>
              <a:rPr lang="en-US" sz="1600">
                <a:ea typeface="+mn-lt"/>
                <a:cs typeface="+mn-lt"/>
              </a:rPr>
              <a:t> a </a:t>
            </a:r>
            <a:r>
              <a:rPr lang="en-US" sz="1600" err="1">
                <a:ea typeface="+mn-lt"/>
                <a:cs typeface="+mn-lt"/>
              </a:rPr>
              <a:t>crea</a:t>
            </a:r>
            <a:r>
              <a:rPr lang="en-US" sz="1600">
                <a:ea typeface="+mn-lt"/>
                <a:cs typeface="+mn-lt"/>
              </a:rPr>
              <a:t> un </a:t>
            </a:r>
            <a:r>
              <a:rPr lang="en-US" sz="1600" err="1">
                <a:ea typeface="+mn-lt"/>
                <a:cs typeface="+mn-lt"/>
              </a:rPr>
              <a:t>fișier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temporar</a:t>
            </a:r>
            <a:r>
              <a:rPr lang="en-US" sz="1600">
                <a:ea typeface="+mn-lt"/>
                <a:cs typeface="+mn-lt"/>
              </a:rPr>
              <a:t> de 500 MB, </a:t>
            </a:r>
            <a:r>
              <a:rPr lang="en-US" sz="1600" err="1">
                <a:ea typeface="+mn-lt"/>
                <a:cs typeface="+mn-lt"/>
              </a:rPr>
              <a:t>forțând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scriptul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să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detecteze</a:t>
            </a:r>
            <a:r>
              <a:rPr lang="en-US" sz="1600">
                <a:ea typeface="+mn-lt"/>
                <a:cs typeface="+mn-lt"/>
              </a:rPr>
              <a:t> o </a:t>
            </a:r>
            <a:r>
              <a:rPr lang="en-US" sz="1600" err="1">
                <a:ea typeface="+mn-lt"/>
                <a:cs typeface="+mn-lt"/>
              </a:rPr>
              <a:t>modificare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majoră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pPr lvl="1" indent="-342900" algn="just">
              <a:buFont typeface="Courier New" panose="02070309020205020404"/>
              <a:buChar char="o"/>
            </a:pPr>
            <a:r>
              <a:rPr lang="en-US" sz="1600" err="1">
                <a:ea typeface="+mn-lt"/>
                <a:cs typeface="+mn-lt"/>
              </a:rPr>
              <a:t>Folosim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>
                <a:latin typeface="Consolas" panose="020B0609020204030204"/>
              </a:rPr>
              <a:t>touch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pentru</a:t>
            </a:r>
            <a:r>
              <a:rPr lang="en-US" sz="1600">
                <a:ea typeface="+mn-lt"/>
                <a:cs typeface="+mn-lt"/>
              </a:rPr>
              <a:t> a </a:t>
            </a:r>
            <a:r>
              <a:rPr lang="en-US" sz="1600" err="1">
                <a:ea typeface="+mn-lt"/>
                <a:cs typeface="+mn-lt"/>
              </a:rPr>
              <a:t>crea</a:t>
            </a:r>
            <a:r>
              <a:rPr lang="en-US" sz="1600">
                <a:ea typeface="+mn-lt"/>
                <a:cs typeface="+mn-lt"/>
              </a:rPr>
              <a:t> un </a:t>
            </a:r>
            <a:r>
              <a:rPr lang="en-US" sz="1600" err="1">
                <a:ea typeface="+mn-lt"/>
                <a:cs typeface="+mn-lt"/>
              </a:rPr>
              <a:t>fișier</a:t>
            </a:r>
            <a:r>
              <a:rPr lang="en-US" sz="1600">
                <a:ea typeface="+mn-lt"/>
                <a:cs typeface="+mn-lt"/>
              </a:rPr>
              <a:t> nou (</a:t>
            </a:r>
            <a:r>
              <a:rPr lang="en-US" sz="1600">
                <a:latin typeface="Consolas" panose="020B0609020204030204"/>
              </a:rPr>
              <a:t>document_nou.txt</a:t>
            </a:r>
            <a:r>
              <a:rPr lang="en-US" sz="1600">
                <a:ea typeface="+mn-lt"/>
                <a:cs typeface="+mn-lt"/>
              </a:rPr>
              <a:t>).</a:t>
            </a:r>
            <a:endParaRPr lang="en-US" sz="1600"/>
          </a:p>
          <a:p>
            <a:pPr algn="just">
              <a:buFont typeface="Arial" panose="020B0604020202020204"/>
              <a:buChar char="•"/>
            </a:pPr>
            <a:r>
              <a:rPr lang="en-US" sz="1800" b="1" err="1">
                <a:ea typeface="+mn-lt"/>
                <a:cs typeface="+mn-lt"/>
              </a:rPr>
              <a:t>Curățarea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mediului</a:t>
            </a:r>
            <a:r>
              <a:rPr lang="en-US" sz="1800" b="1">
                <a:ea typeface="+mn-lt"/>
                <a:cs typeface="+mn-lt"/>
              </a:rPr>
              <a:t>:</a:t>
            </a:r>
            <a:r>
              <a:rPr lang="en-US" sz="1800">
                <a:ea typeface="+mn-lt"/>
                <a:cs typeface="+mn-lt"/>
              </a:rPr>
              <a:t> La final, </a:t>
            </a:r>
            <a:r>
              <a:rPr lang="en-US" sz="1800" err="1">
                <a:ea typeface="+mn-lt"/>
                <a:cs typeface="+mn-lt"/>
              </a:rPr>
              <a:t>scriptul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șterge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fișierul</a:t>
            </a:r>
            <a:r>
              <a:rPr lang="en-US" sz="1800">
                <a:ea typeface="+mn-lt"/>
                <a:cs typeface="+mn-lt"/>
              </a:rPr>
              <a:t> de 500 MB </a:t>
            </a:r>
            <a:r>
              <a:rPr lang="en-US" sz="1800" err="1">
                <a:ea typeface="+mn-lt"/>
                <a:cs typeface="+mn-lt"/>
              </a:rPr>
              <a:t>pentru</a:t>
            </a:r>
            <a:r>
              <a:rPr lang="en-US" sz="1800">
                <a:ea typeface="+mn-lt"/>
                <a:cs typeface="+mn-lt"/>
              </a:rPr>
              <a:t> a nu </a:t>
            </a:r>
            <a:r>
              <a:rPr lang="en-US" sz="1800" err="1">
                <a:ea typeface="+mn-lt"/>
                <a:cs typeface="+mn-lt"/>
              </a:rPr>
              <a:t>lăsa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sistemul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încărcat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pPr algn="just">
              <a:buFont typeface="Arial" panose="020B0604020202020204"/>
              <a:buChar char="•"/>
            </a:pPr>
            <a:endParaRPr lang="en-US" sz="1800"/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</p:txBody>
      </p:sp>
      <p:pic>
        <p:nvPicPr>
          <p:cNvPr id="8" name="Picture 7" descr="A computer screen shot of white text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532" y="2778449"/>
            <a:ext cx="5150277" cy="1982856"/>
          </a:xfrm>
          <a:prstGeom prst="rect">
            <a:avLst/>
          </a:prstGeom>
        </p:spPr>
      </p:pic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background with white text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897" y="5066179"/>
            <a:ext cx="43815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Concluzii și Contribuții</a:t>
            </a:r>
            <a:endParaRPr lang="en-US" sz="4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1500" b="1" err="1">
                <a:ea typeface="+mn-lt"/>
                <a:cs typeface="+mn-lt"/>
              </a:rPr>
              <a:t>Concluzii</a:t>
            </a:r>
            <a:r>
              <a:rPr lang="en-US" sz="1500" b="1">
                <a:ea typeface="+mn-lt"/>
                <a:cs typeface="+mn-lt"/>
              </a:rPr>
              <a:t> </a:t>
            </a:r>
            <a:r>
              <a:rPr lang="en-US" sz="1500" b="1" err="1">
                <a:ea typeface="+mn-lt"/>
                <a:cs typeface="+mn-lt"/>
              </a:rPr>
              <a:t>Tehnice</a:t>
            </a:r>
            <a:r>
              <a:rPr lang="en-US" sz="1500" b="1">
                <a:ea typeface="+mn-lt"/>
                <a:cs typeface="+mn-lt"/>
              </a:rPr>
              <a:t>:</a:t>
            </a:r>
            <a:endParaRPr lang="en-US" sz="1500"/>
          </a:p>
          <a:p>
            <a:r>
              <a:rPr lang="en-US" sz="1500">
                <a:ea typeface="+mn-lt"/>
                <a:cs typeface="+mn-lt"/>
              </a:rPr>
              <a:t>In </a:t>
            </a:r>
            <a:r>
              <a:rPr lang="en-US" sz="1500" err="1">
                <a:ea typeface="+mn-lt"/>
                <a:cs typeface="+mn-lt"/>
              </a:rPr>
              <a:t>proiect</a:t>
            </a:r>
            <a:r>
              <a:rPr lang="en-US" sz="1500">
                <a:ea typeface="+mn-lt"/>
                <a:cs typeface="+mn-lt"/>
              </a:rPr>
              <a:t> ne </a:t>
            </a:r>
            <a:r>
              <a:rPr lang="en-US" sz="1500" err="1">
                <a:ea typeface="+mn-lt"/>
                <a:cs typeface="+mn-lt"/>
              </a:rPr>
              <a:t>folosim</a:t>
            </a:r>
            <a:r>
              <a:rPr lang="en-US" sz="1500">
                <a:ea typeface="+mn-lt"/>
                <a:cs typeface="+mn-lt"/>
              </a:rPr>
              <a:t> de </a:t>
            </a:r>
            <a:r>
              <a:rPr lang="en-US" sz="1500" err="1">
                <a:ea typeface="+mn-lt"/>
                <a:cs typeface="+mn-lt"/>
              </a:rPr>
              <a:t>niște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comenzi</a:t>
            </a:r>
            <a:r>
              <a:rPr lang="en-US" sz="1500">
                <a:ea typeface="+mn-lt"/>
                <a:cs typeface="+mn-lt"/>
              </a:rPr>
              <a:t> </a:t>
            </a:r>
            <a:r>
              <a:rPr lang="en-US" sz="1500" err="1">
                <a:ea typeface="+mn-lt"/>
                <a:cs typeface="+mn-lt"/>
              </a:rPr>
              <a:t>utilitare</a:t>
            </a:r>
            <a:r>
              <a:rPr lang="en-US" sz="1500">
                <a:ea typeface="+mn-lt"/>
                <a:cs typeface="+mn-lt"/>
              </a:rPr>
              <a:t> simple </a:t>
            </a:r>
            <a:r>
              <a:rPr lang="en-US" sz="1500" err="1">
                <a:ea typeface="+mn-lt"/>
                <a:cs typeface="+mn-lt"/>
              </a:rPr>
              <a:t>și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specializate</a:t>
            </a:r>
            <a:r>
              <a:rPr lang="en-US" sz="1500">
                <a:ea typeface="+mn-lt"/>
                <a:cs typeface="+mn-lt"/>
              </a:rPr>
              <a:t> (</a:t>
            </a:r>
            <a:r>
              <a:rPr lang="en-US" sz="1500">
                <a:latin typeface="Consolas" panose="020B0609020204030204"/>
                <a:ea typeface="+mn-lt"/>
                <a:cs typeface="+mn-lt"/>
              </a:rPr>
              <a:t>grep</a:t>
            </a:r>
            <a:r>
              <a:rPr lang="en-US" sz="1500">
                <a:ea typeface="+mn-lt"/>
                <a:cs typeface="+mn-lt"/>
              </a:rPr>
              <a:t>, </a:t>
            </a:r>
            <a:r>
              <a:rPr lang="en-US" sz="1500">
                <a:latin typeface="Consolas" panose="020B0609020204030204"/>
                <a:ea typeface="+mn-lt"/>
                <a:cs typeface="+mn-lt"/>
              </a:rPr>
              <a:t>awk</a:t>
            </a:r>
            <a:r>
              <a:rPr lang="en-US" sz="1500">
                <a:ea typeface="+mn-lt"/>
                <a:cs typeface="+mn-lt"/>
              </a:rPr>
              <a:t>, </a:t>
            </a:r>
            <a:r>
              <a:rPr lang="en-US" sz="1500">
                <a:latin typeface="Consolas" panose="020B0609020204030204"/>
                <a:ea typeface="+mn-lt"/>
                <a:cs typeface="+mn-lt"/>
              </a:rPr>
              <a:t>diff</a:t>
            </a:r>
            <a:r>
              <a:rPr lang="en-US" sz="1500">
                <a:ea typeface="+mn-lt"/>
                <a:cs typeface="+mn-lt"/>
              </a:rPr>
              <a:t>) </a:t>
            </a:r>
            <a:r>
              <a:rPr lang="en-US" sz="1500" err="1">
                <a:ea typeface="+mn-lt"/>
                <a:cs typeface="+mn-lt"/>
              </a:rPr>
              <a:t>pentru</a:t>
            </a:r>
            <a:r>
              <a:rPr lang="en-US" sz="1500">
                <a:ea typeface="+mn-lt"/>
                <a:cs typeface="+mn-lt"/>
              </a:rPr>
              <a:t> a </a:t>
            </a:r>
            <a:r>
              <a:rPr lang="en-US" sz="1500" err="1">
                <a:ea typeface="+mn-lt"/>
                <a:cs typeface="+mn-lt"/>
              </a:rPr>
              <a:t>crea</a:t>
            </a:r>
            <a:r>
              <a:rPr lang="en-US" sz="1500">
                <a:ea typeface="+mn-lt"/>
                <a:cs typeface="+mn-lt"/>
              </a:rPr>
              <a:t> un instrument complex de </a:t>
            </a:r>
            <a:r>
              <a:rPr lang="en-US" sz="1500" err="1">
                <a:ea typeface="+mn-lt"/>
                <a:cs typeface="+mn-lt"/>
              </a:rPr>
              <a:t>monitorizare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fără</a:t>
            </a:r>
            <a:r>
              <a:rPr lang="en-US" sz="1500">
                <a:ea typeface="+mn-lt"/>
                <a:cs typeface="+mn-lt"/>
              </a:rPr>
              <a:t> a </a:t>
            </a:r>
            <a:r>
              <a:rPr lang="en-US" sz="1500" err="1">
                <a:ea typeface="+mn-lt"/>
                <a:cs typeface="+mn-lt"/>
              </a:rPr>
              <a:t>recurge</a:t>
            </a:r>
            <a:r>
              <a:rPr lang="en-US" sz="1500">
                <a:ea typeface="+mn-lt"/>
                <a:cs typeface="+mn-lt"/>
              </a:rPr>
              <a:t> la </a:t>
            </a:r>
            <a:r>
              <a:rPr lang="en-US" sz="1500" err="1">
                <a:ea typeface="+mn-lt"/>
                <a:cs typeface="+mn-lt"/>
              </a:rPr>
              <a:t>limbaje</a:t>
            </a:r>
            <a:r>
              <a:rPr lang="en-US" sz="1500">
                <a:ea typeface="+mn-lt"/>
                <a:cs typeface="+mn-lt"/>
              </a:rPr>
              <a:t> de </a:t>
            </a:r>
            <a:r>
              <a:rPr lang="en-US" sz="1500" err="1">
                <a:ea typeface="+mn-lt"/>
                <a:cs typeface="+mn-lt"/>
              </a:rPr>
              <a:t>programare</a:t>
            </a:r>
            <a:r>
              <a:rPr lang="en-US" sz="1500">
                <a:ea typeface="+mn-lt"/>
                <a:cs typeface="+mn-lt"/>
              </a:rPr>
              <a:t> </a:t>
            </a:r>
            <a:r>
              <a:rPr lang="en-US" sz="1500" err="1">
                <a:ea typeface="+mn-lt"/>
                <a:cs typeface="+mn-lt"/>
              </a:rPr>
              <a:t>avansate</a:t>
            </a:r>
            <a:r>
              <a:rPr lang="en-US" sz="1500">
                <a:ea typeface="+mn-lt"/>
                <a:cs typeface="+mn-lt"/>
              </a:rPr>
              <a:t>.</a:t>
            </a:r>
            <a:endParaRPr lang="en-US" sz="1500">
              <a:ea typeface="+mn-lt"/>
              <a:cs typeface="+mn-lt"/>
            </a:endParaRPr>
          </a:p>
          <a:p>
            <a:r>
              <a:rPr lang="en-US" sz="1500" err="1">
                <a:ea typeface="+mn-lt"/>
                <a:cs typeface="+mn-lt"/>
              </a:rPr>
              <a:t>Calculele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efectuate</a:t>
            </a:r>
            <a:r>
              <a:rPr lang="en-US" sz="1500">
                <a:ea typeface="+mn-lt"/>
                <a:cs typeface="+mn-lt"/>
              </a:rPr>
              <a:t> cu </a:t>
            </a:r>
            <a:r>
              <a:rPr lang="en-US" sz="1500" err="1">
                <a:ea typeface="+mn-lt"/>
                <a:cs typeface="+mn-lt"/>
              </a:rPr>
              <a:t>ajutorul</a:t>
            </a:r>
            <a:r>
              <a:rPr lang="en-US" sz="1500">
                <a:ea typeface="+mn-lt"/>
                <a:cs typeface="+mn-lt"/>
              </a:rPr>
              <a:t> script-</a:t>
            </a:r>
            <a:r>
              <a:rPr lang="en-US" sz="1500" err="1">
                <a:ea typeface="+mn-lt"/>
                <a:cs typeface="+mn-lt"/>
              </a:rPr>
              <a:t>urilor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bazate</a:t>
            </a:r>
            <a:r>
              <a:rPr lang="en-US" sz="1500">
                <a:ea typeface="+mn-lt"/>
                <a:cs typeface="+mn-lt"/>
              </a:rPr>
              <a:t> pe 2 </a:t>
            </a:r>
            <a:r>
              <a:rPr lang="en-US" sz="1500" err="1">
                <a:ea typeface="+mn-lt"/>
                <a:cs typeface="+mn-lt"/>
              </a:rPr>
              <a:t>fișiere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diferite</a:t>
            </a:r>
            <a:r>
              <a:rPr lang="en-US" sz="1500">
                <a:ea typeface="+mn-lt"/>
                <a:cs typeface="+mn-lt"/>
              </a:rPr>
              <a:t> din </a:t>
            </a:r>
            <a:r>
              <a:rPr lang="en-US" sz="1500" err="1">
                <a:ea typeface="+mn-lt"/>
                <a:cs typeface="+mn-lt"/>
              </a:rPr>
              <a:t>punct</a:t>
            </a:r>
            <a:r>
              <a:rPr lang="en-US" sz="1500">
                <a:ea typeface="+mn-lt"/>
                <a:cs typeface="+mn-lt"/>
              </a:rPr>
              <a:t> temporal </a:t>
            </a:r>
            <a:r>
              <a:rPr lang="en-US" sz="1500" err="1">
                <a:ea typeface="+mn-lt"/>
                <a:cs typeface="+mn-lt"/>
              </a:rPr>
              <a:t>ajută</a:t>
            </a:r>
            <a:r>
              <a:rPr lang="en-US" sz="1500">
                <a:ea typeface="+mn-lt"/>
                <a:cs typeface="+mn-lt"/>
              </a:rPr>
              <a:t> la </a:t>
            </a:r>
            <a:r>
              <a:rPr lang="en-US" sz="1500" err="1">
                <a:ea typeface="+mn-lt"/>
                <a:cs typeface="+mn-lt"/>
              </a:rPr>
              <a:t>păstrarea</a:t>
            </a:r>
            <a:r>
              <a:rPr lang="en-US" sz="1500">
                <a:ea typeface="+mn-lt"/>
                <a:cs typeface="+mn-lt"/>
              </a:rPr>
              <a:t> </a:t>
            </a:r>
            <a:r>
              <a:rPr lang="en-US" sz="1500" err="1">
                <a:ea typeface="+mn-lt"/>
                <a:cs typeface="+mn-lt"/>
              </a:rPr>
              <a:t>evidenței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dintre</a:t>
            </a:r>
            <a:r>
              <a:rPr lang="en-US" sz="1500">
                <a:ea typeface="+mn-lt"/>
                <a:cs typeface="+mn-lt"/>
              </a:rPr>
              <a:t> 2 </a:t>
            </a:r>
            <a:r>
              <a:rPr lang="en-US" sz="1500" err="1">
                <a:ea typeface="+mn-lt"/>
                <a:cs typeface="+mn-lt"/>
              </a:rPr>
              <a:t>stări</a:t>
            </a:r>
            <a:r>
              <a:rPr lang="en-US" sz="1500">
                <a:ea typeface="+mn-lt"/>
                <a:cs typeface="+mn-lt"/>
              </a:rPr>
              <a:t> ale </a:t>
            </a:r>
            <a:r>
              <a:rPr lang="en-US" sz="1500" err="1">
                <a:ea typeface="+mn-lt"/>
                <a:cs typeface="+mn-lt"/>
              </a:rPr>
              <a:t>sistemului</a:t>
            </a:r>
            <a:r>
              <a:rPr lang="en-US" sz="1500">
                <a:ea typeface="+mn-lt"/>
                <a:cs typeface="+mn-lt"/>
              </a:rPr>
              <a:t> din </a:t>
            </a:r>
            <a:r>
              <a:rPr lang="en-US" sz="1500" err="1">
                <a:ea typeface="+mn-lt"/>
                <a:cs typeface="+mn-lt"/>
              </a:rPr>
              <a:t>trecut</a:t>
            </a:r>
            <a:r>
              <a:rPr lang="en-US" sz="1500">
                <a:ea typeface="+mn-lt"/>
                <a:cs typeface="+mn-lt"/>
              </a:rPr>
              <a:t> </a:t>
            </a:r>
            <a:r>
              <a:rPr lang="en-US" sz="1500" err="1">
                <a:ea typeface="+mn-lt"/>
                <a:cs typeface="+mn-lt"/>
              </a:rPr>
              <a:t>și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raportarea</a:t>
            </a:r>
            <a:r>
              <a:rPr lang="en-US" sz="1500">
                <a:ea typeface="+mn-lt"/>
                <a:cs typeface="+mn-lt"/>
              </a:rPr>
              <a:t> la </a:t>
            </a:r>
            <a:r>
              <a:rPr lang="en-US" sz="1500" err="1">
                <a:ea typeface="+mn-lt"/>
                <a:cs typeface="+mn-lt"/>
              </a:rPr>
              <a:t>prezent</a:t>
            </a:r>
            <a:r>
              <a:rPr lang="en-US" sz="1500">
                <a:ea typeface="+mn-lt"/>
                <a:cs typeface="+mn-lt"/>
              </a:rPr>
              <a:t> </a:t>
            </a:r>
            <a:r>
              <a:rPr lang="en-US" sz="1500" err="1">
                <a:ea typeface="+mn-lt"/>
                <a:cs typeface="+mn-lt"/>
              </a:rPr>
              <a:t>în</a:t>
            </a:r>
            <a:r>
              <a:rPr lang="en-US" sz="1500">
                <a:ea typeface="+mn-lt"/>
                <a:cs typeface="+mn-lt"/>
              </a:rPr>
              <a:t> mod </a:t>
            </a:r>
            <a:r>
              <a:rPr lang="en-US" sz="1500" err="1">
                <a:ea typeface="+mn-lt"/>
                <a:cs typeface="+mn-lt"/>
              </a:rPr>
              <a:t>riguros</a:t>
            </a:r>
            <a:r>
              <a:rPr lang="en-US" sz="1500">
                <a:ea typeface="+mn-lt"/>
                <a:cs typeface="+mn-lt"/>
              </a:rPr>
              <a:t>.</a:t>
            </a:r>
            <a:endParaRPr lang="en-US" sz="1500"/>
          </a:p>
          <a:p>
            <a:r>
              <a:rPr lang="en-US" sz="1500" err="1">
                <a:ea typeface="+mn-lt"/>
                <a:cs typeface="+mn-lt"/>
              </a:rPr>
              <a:t>Implementarea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pune</a:t>
            </a:r>
            <a:r>
              <a:rPr lang="en-US" sz="1500">
                <a:ea typeface="+mn-lt"/>
                <a:cs typeface="+mn-lt"/>
              </a:rPr>
              <a:t> accent pe </a:t>
            </a:r>
            <a:r>
              <a:rPr lang="en-US" sz="1500" err="1">
                <a:ea typeface="+mn-lt"/>
                <a:cs typeface="+mn-lt"/>
              </a:rPr>
              <a:t>bunele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practici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în</a:t>
            </a:r>
            <a:r>
              <a:rPr lang="en-US" sz="1500">
                <a:ea typeface="+mn-lt"/>
                <a:cs typeface="+mn-lt"/>
              </a:rPr>
              <a:t> scripting: </a:t>
            </a:r>
            <a:r>
              <a:rPr lang="en-US" sz="1500" err="1">
                <a:ea typeface="+mn-lt"/>
                <a:cs typeface="+mn-lt"/>
              </a:rPr>
              <a:t>gestionarea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fișierelor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temporare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în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>
                <a:latin typeface="Consolas" panose="020B0609020204030204"/>
              </a:rPr>
              <a:t>/</a:t>
            </a:r>
            <a:r>
              <a:rPr lang="en-US" sz="1500" err="1">
                <a:latin typeface="Consolas" panose="020B0609020204030204"/>
              </a:rPr>
              <a:t>tmp</a:t>
            </a:r>
            <a:r>
              <a:rPr lang="en-US" sz="1500">
                <a:ea typeface="+mn-lt"/>
                <a:cs typeface="+mn-lt"/>
              </a:rPr>
              <a:t>, </a:t>
            </a:r>
            <a:r>
              <a:rPr lang="en-US" sz="1500" err="1">
                <a:ea typeface="+mn-lt"/>
                <a:cs typeface="+mn-lt"/>
              </a:rPr>
              <a:t>curățarea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mediului</a:t>
            </a:r>
            <a:r>
              <a:rPr lang="en-US" sz="1500">
                <a:ea typeface="+mn-lt"/>
                <a:cs typeface="+mn-lt"/>
              </a:rPr>
              <a:t> de test </a:t>
            </a:r>
            <a:r>
              <a:rPr lang="en-US" sz="1500" err="1">
                <a:ea typeface="+mn-lt"/>
                <a:cs typeface="+mn-lt"/>
              </a:rPr>
              <a:t>după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execuție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și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validarea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riguroasă</a:t>
            </a:r>
            <a:r>
              <a:rPr lang="en-US" sz="1500">
                <a:ea typeface="+mn-lt"/>
                <a:cs typeface="+mn-lt"/>
              </a:rPr>
              <a:t> a </a:t>
            </a:r>
            <a:r>
              <a:rPr lang="en-US" sz="1500" err="1">
                <a:ea typeface="+mn-lt"/>
                <a:cs typeface="+mn-lt"/>
              </a:rPr>
              <a:t>datelor</a:t>
            </a:r>
            <a:r>
              <a:rPr lang="en-US" sz="1500">
                <a:ea typeface="+mn-lt"/>
                <a:cs typeface="+mn-lt"/>
              </a:rPr>
              <a:t> de </a:t>
            </a:r>
            <a:r>
              <a:rPr lang="en-US" sz="1500" err="1">
                <a:ea typeface="+mn-lt"/>
                <a:cs typeface="+mn-lt"/>
              </a:rPr>
              <a:t>intrare</a:t>
            </a:r>
            <a:r>
              <a:rPr lang="en-US" sz="1500">
                <a:ea typeface="+mn-lt"/>
                <a:cs typeface="+mn-lt"/>
              </a:rPr>
              <a:t> (edge-cases).</a:t>
            </a:r>
            <a:endParaRPr lang="en-US" sz="1500"/>
          </a:p>
          <a:p>
            <a:r>
              <a:rPr lang="en-US" sz="1500" b="1" err="1">
                <a:ea typeface="+mn-lt"/>
                <a:cs typeface="+mn-lt"/>
              </a:rPr>
              <a:t>Distribuția</a:t>
            </a:r>
            <a:r>
              <a:rPr lang="en-US" sz="1500" b="1">
                <a:ea typeface="+mn-lt"/>
                <a:cs typeface="+mn-lt"/>
              </a:rPr>
              <a:t> </a:t>
            </a:r>
            <a:r>
              <a:rPr lang="en-US" sz="1500" b="1" err="1">
                <a:ea typeface="+mn-lt"/>
                <a:cs typeface="+mn-lt"/>
              </a:rPr>
              <a:t>Sarcinilor</a:t>
            </a:r>
            <a:r>
              <a:rPr lang="en-US" sz="1500" b="1">
                <a:ea typeface="+mn-lt"/>
                <a:cs typeface="+mn-lt"/>
              </a:rPr>
              <a:t>:</a:t>
            </a:r>
            <a:endParaRPr lang="en-US" sz="1500"/>
          </a:p>
          <a:p>
            <a:r>
              <a:rPr lang="en-US" sz="1500" b="1">
                <a:ea typeface="+mn-lt"/>
                <a:cs typeface="+mn-lt"/>
              </a:rPr>
              <a:t>Student Al Daraghmeh Omar-Sorin:</a:t>
            </a:r>
            <a:r>
              <a:rPr lang="en-US" sz="1500">
                <a:ea typeface="+mn-lt"/>
                <a:cs typeface="+mn-lt"/>
              </a:rPr>
              <a:t>  </a:t>
            </a:r>
            <a:r>
              <a:rPr lang="en-US" sz="1500" err="1">
                <a:ea typeface="+mn-lt"/>
                <a:cs typeface="+mn-lt"/>
              </a:rPr>
              <a:t>Arhitectura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scriptului</a:t>
            </a:r>
            <a:r>
              <a:rPr lang="en-US" sz="1500">
                <a:ea typeface="+mn-lt"/>
                <a:cs typeface="+mn-lt"/>
              </a:rPr>
              <a:t> de </a:t>
            </a:r>
            <a:r>
              <a:rPr lang="en-US" sz="1500" err="1">
                <a:ea typeface="+mn-lt"/>
                <a:cs typeface="+mn-lt"/>
              </a:rPr>
              <a:t>monitorizare</a:t>
            </a:r>
            <a:r>
              <a:rPr lang="en-US" sz="1500">
                <a:ea typeface="+mn-lt"/>
                <a:cs typeface="+mn-lt"/>
              </a:rPr>
              <a:t>, </a:t>
            </a:r>
            <a:r>
              <a:rPr lang="en-US" sz="1500" err="1">
                <a:ea typeface="+mn-lt"/>
                <a:cs typeface="+mn-lt"/>
              </a:rPr>
              <a:t>logica</a:t>
            </a:r>
            <a:r>
              <a:rPr lang="en-US" sz="1500">
                <a:ea typeface="+mn-lt"/>
                <a:cs typeface="+mn-lt"/>
              </a:rPr>
              <a:t> de </a:t>
            </a:r>
            <a:r>
              <a:rPr lang="en-US" sz="1500" err="1">
                <a:ea typeface="+mn-lt"/>
                <a:cs typeface="+mn-lt"/>
              </a:rPr>
              <a:t>comparare</a:t>
            </a:r>
            <a:r>
              <a:rPr lang="en-US" sz="1500">
                <a:ea typeface="+mn-lt"/>
                <a:cs typeface="+mn-lt"/>
              </a:rPr>
              <a:t> a </a:t>
            </a:r>
            <a:r>
              <a:rPr lang="en-US" sz="1500" err="1">
                <a:ea typeface="+mn-lt"/>
                <a:cs typeface="+mn-lt"/>
              </a:rPr>
              <a:t>fișierelor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și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gestionarea</a:t>
            </a:r>
            <a:r>
              <a:rPr lang="en-US" sz="1500">
                <a:ea typeface="+mn-lt"/>
                <a:cs typeface="+mn-lt"/>
              </a:rPr>
              <a:t> </a:t>
            </a:r>
            <a:r>
              <a:rPr lang="en-US" sz="1500" err="1">
                <a:ea typeface="+mn-lt"/>
                <a:cs typeface="+mn-lt"/>
              </a:rPr>
              <a:t>modului</a:t>
            </a:r>
            <a:r>
              <a:rPr lang="en-US" sz="1500">
                <a:ea typeface="+mn-lt"/>
                <a:cs typeface="+mn-lt"/>
              </a:rPr>
              <a:t> de </a:t>
            </a:r>
            <a:r>
              <a:rPr lang="en-US" sz="1500" err="1">
                <a:ea typeface="+mn-lt"/>
                <a:cs typeface="+mn-lt"/>
              </a:rPr>
              <a:t>afișare</a:t>
            </a:r>
            <a:r>
              <a:rPr lang="en-US" sz="1500">
                <a:ea typeface="+mn-lt"/>
                <a:cs typeface="+mn-lt"/>
              </a:rPr>
              <a:t>.</a:t>
            </a:r>
            <a:endParaRPr lang="en-US" sz="1500"/>
          </a:p>
          <a:p>
            <a:r>
              <a:rPr lang="en-US" sz="1500" b="1">
                <a:ea typeface="+mn-lt"/>
                <a:cs typeface="+mn-lt"/>
              </a:rPr>
              <a:t>Student Ciju Ianis-Cristian: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Scriptul</a:t>
            </a:r>
            <a:r>
              <a:rPr lang="en-US" sz="1500">
                <a:ea typeface="+mn-lt"/>
                <a:cs typeface="+mn-lt"/>
              </a:rPr>
              <a:t> de demo/</a:t>
            </a:r>
            <a:r>
              <a:rPr lang="en-US" sz="1500" err="1">
                <a:ea typeface="+mn-lt"/>
                <a:cs typeface="+mn-lt"/>
              </a:rPr>
              <a:t>simulare</a:t>
            </a:r>
            <a:r>
              <a:rPr lang="en-US" sz="1500">
                <a:ea typeface="+mn-lt"/>
                <a:cs typeface="+mn-lt"/>
              </a:rPr>
              <a:t>, </a:t>
            </a:r>
            <a:r>
              <a:rPr lang="en-US" sz="1500" err="1">
                <a:ea typeface="+mn-lt"/>
                <a:cs typeface="+mn-lt"/>
              </a:rPr>
              <a:t>prelucrarea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datelor</a:t>
            </a:r>
            <a:r>
              <a:rPr lang="en-US" sz="1500">
                <a:ea typeface="+mn-lt"/>
                <a:cs typeface="+mn-lt"/>
              </a:rPr>
              <a:t> brute (</a:t>
            </a:r>
            <a:r>
              <a:rPr lang="en-US" sz="1500">
                <a:latin typeface="Consolas" panose="020B0609020204030204"/>
              </a:rPr>
              <a:t>col</a:t>
            </a:r>
            <a:r>
              <a:rPr lang="en-US" sz="1500">
                <a:ea typeface="+mn-lt"/>
                <a:cs typeface="+mn-lt"/>
              </a:rPr>
              <a:t>, </a:t>
            </a:r>
            <a:r>
              <a:rPr lang="en-US" sz="1500">
                <a:latin typeface="Consolas" panose="020B0609020204030204"/>
              </a:rPr>
              <a:t>grep</a:t>
            </a:r>
            <a:r>
              <a:rPr lang="en-US" sz="1500">
                <a:ea typeface="+mn-lt"/>
                <a:cs typeface="+mn-lt"/>
              </a:rPr>
              <a:t>) </a:t>
            </a:r>
            <a:r>
              <a:rPr lang="en-US" sz="1500" err="1">
                <a:ea typeface="+mn-lt"/>
                <a:cs typeface="+mn-lt"/>
              </a:rPr>
              <a:t>și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documentația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proiectului</a:t>
            </a:r>
            <a:r>
              <a:rPr lang="en-US" sz="1500">
                <a:ea typeface="+mn-lt"/>
                <a:cs typeface="+mn-lt"/>
              </a:rPr>
              <a:t>.</a:t>
            </a:r>
            <a:endParaRPr lang="en-US" sz="1500"/>
          </a:p>
          <a:p>
            <a:endParaRPr lang="en-US" sz="1500"/>
          </a:p>
        </p:txBody>
      </p:sp>
      <p:cxnSp>
        <p:nvCxnSpPr>
          <p:cNvPr id="17" name="Straight Connector 1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Rulare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și</a:t>
            </a:r>
            <a:r>
              <a:rPr lang="en-US">
                <a:ea typeface="+mj-lt"/>
                <a:cs typeface="+mj-lt"/>
              </a:rPr>
              <a:t> Edge-cases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406" y="232731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err="1">
                <a:ea typeface="+mn-lt"/>
                <a:cs typeface="+mn-lt"/>
              </a:rPr>
              <a:t>Tratarea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Cazurilor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Limită</a:t>
            </a:r>
            <a:r>
              <a:rPr lang="en-US" sz="1800" b="1">
                <a:ea typeface="+mn-lt"/>
                <a:cs typeface="+mn-lt"/>
              </a:rPr>
              <a:t> (Edge-Cases):</a:t>
            </a:r>
            <a:endParaRPr lang="en-US" sz="1800"/>
          </a:p>
          <a:p>
            <a:pPr lvl="1"/>
            <a:r>
              <a:rPr lang="en-US" sz="1800" b="1" err="1">
                <a:ea typeface="+mn-lt"/>
                <a:cs typeface="+mn-lt"/>
              </a:rPr>
              <a:t>Validarea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Argumentelor</a:t>
            </a:r>
            <a:r>
              <a:rPr lang="en-US" sz="1800" b="1">
                <a:ea typeface="+mn-lt"/>
                <a:cs typeface="+mn-lt"/>
              </a:rPr>
              <a:t>: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Scriptul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verifică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prezența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fișierelor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intrare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și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oferă</a:t>
            </a:r>
            <a:r>
              <a:rPr lang="en-US" sz="1800">
                <a:ea typeface="+mn-lt"/>
                <a:cs typeface="+mn-lt"/>
              </a:rPr>
              <a:t> un </a:t>
            </a:r>
            <a:r>
              <a:rPr lang="en-US" sz="1800" err="1">
                <a:ea typeface="+mn-lt"/>
                <a:cs typeface="+mn-lt"/>
              </a:rPr>
              <a:t>mesaj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ajutor</a:t>
            </a:r>
            <a:r>
              <a:rPr lang="en-US" sz="1800">
                <a:ea typeface="+mn-lt"/>
                <a:cs typeface="+mn-lt"/>
              </a:rPr>
              <a:t> (Usage).</a:t>
            </a:r>
            <a:endParaRPr lang="en-US" sz="1800"/>
          </a:p>
          <a:p>
            <a:pPr lvl="1"/>
            <a:r>
              <a:rPr lang="en-US" sz="1800" b="1" err="1">
                <a:ea typeface="+mn-lt"/>
                <a:cs typeface="+mn-lt"/>
              </a:rPr>
              <a:t>Fișiere</a:t>
            </a:r>
            <a:r>
              <a:rPr lang="en-US" sz="1800" b="1">
                <a:ea typeface="+mn-lt"/>
                <a:cs typeface="+mn-lt"/>
              </a:rPr>
              <a:t> cu </a:t>
            </a:r>
            <a:r>
              <a:rPr lang="en-US" sz="1800" b="1" err="1">
                <a:ea typeface="+mn-lt"/>
                <a:cs typeface="+mn-lt"/>
              </a:rPr>
              <a:t>spații</a:t>
            </a:r>
            <a:r>
              <a:rPr lang="en-US" sz="1800" b="1">
                <a:ea typeface="+mn-lt"/>
                <a:cs typeface="+mn-lt"/>
              </a:rPr>
              <a:t>: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Utilizarea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variabilei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>
                <a:latin typeface="Consolas" panose="020B0609020204030204"/>
              </a:rPr>
              <a:t>$NF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în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>
                <a:latin typeface="Consolas" panose="020B0609020204030204"/>
              </a:rPr>
              <a:t>awk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permite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identificarea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numelui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fișierului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chiar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dacă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acesta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conține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caractere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speciale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în</a:t>
            </a:r>
            <a:r>
              <a:rPr lang="en-US" sz="1800">
                <a:ea typeface="+mn-lt"/>
                <a:cs typeface="+mn-lt"/>
              </a:rPr>
              <a:t> cale.</a:t>
            </a:r>
            <a:endParaRPr lang="en-US" sz="1800"/>
          </a:p>
          <a:p>
            <a:pPr lvl="1"/>
            <a:r>
              <a:rPr lang="en-US" sz="1800" b="1" err="1">
                <a:ea typeface="+mn-lt"/>
                <a:cs typeface="+mn-lt"/>
              </a:rPr>
              <a:t>Curățarea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Automată</a:t>
            </a:r>
            <a:r>
              <a:rPr lang="en-US" sz="1800" b="1">
                <a:ea typeface="+mn-lt"/>
                <a:cs typeface="+mn-lt"/>
              </a:rPr>
              <a:t>: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Toate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fișierele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simulare</a:t>
            </a:r>
            <a:r>
              <a:rPr lang="en-US" sz="1800">
                <a:ea typeface="+mn-lt"/>
                <a:cs typeface="+mn-lt"/>
              </a:rPr>
              <a:t> (ca </a:t>
            </a:r>
            <a:r>
              <a:rPr lang="en-US" sz="1800" err="1">
                <a:latin typeface="Consolas" panose="020B0609020204030204"/>
              </a:rPr>
              <a:t>fisier_mare.tmp</a:t>
            </a:r>
            <a:r>
              <a:rPr lang="en-US" sz="1800">
                <a:ea typeface="+mn-lt"/>
                <a:cs typeface="+mn-lt"/>
              </a:rPr>
              <a:t>) sunt </a:t>
            </a:r>
            <a:r>
              <a:rPr lang="en-US" sz="1800" err="1">
                <a:ea typeface="+mn-lt"/>
                <a:cs typeface="+mn-lt"/>
              </a:rPr>
              <a:t>șterse</a:t>
            </a:r>
            <a:r>
              <a:rPr lang="en-US" sz="1800">
                <a:ea typeface="+mn-lt"/>
                <a:cs typeface="+mn-lt"/>
              </a:rPr>
              <a:t> automat la </a:t>
            </a:r>
            <a:r>
              <a:rPr lang="en-US" sz="1800" err="1">
                <a:ea typeface="+mn-lt"/>
                <a:cs typeface="+mn-lt"/>
              </a:rPr>
              <a:t>finalul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execuției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pentru</a:t>
            </a:r>
            <a:r>
              <a:rPr lang="en-US" sz="1800">
                <a:ea typeface="+mn-lt"/>
                <a:cs typeface="+mn-lt"/>
              </a:rPr>
              <a:t> a nu </a:t>
            </a:r>
            <a:r>
              <a:rPr lang="en-US" sz="1800" err="1">
                <a:ea typeface="+mn-lt"/>
                <a:cs typeface="+mn-lt"/>
              </a:rPr>
              <a:t>lăsa</a:t>
            </a:r>
            <a:r>
              <a:rPr lang="en-US" sz="1800">
                <a:ea typeface="+mn-lt"/>
                <a:cs typeface="+mn-lt"/>
              </a:rPr>
              <a:t> "</a:t>
            </a:r>
            <a:r>
              <a:rPr lang="en-US" sz="1800" err="1">
                <a:ea typeface="+mn-lt"/>
                <a:cs typeface="+mn-lt"/>
              </a:rPr>
              <a:t>gunoi</a:t>
            </a:r>
            <a:r>
              <a:rPr lang="en-US" sz="1800">
                <a:ea typeface="+mn-lt"/>
                <a:cs typeface="+mn-lt"/>
              </a:rPr>
              <a:t>" pe disc.</a:t>
            </a:r>
            <a:endParaRPr lang="en-US" sz="1800"/>
          </a:p>
          <a:p>
            <a:endParaRPr lang="en-US"/>
          </a:p>
          <a:p>
            <a:endParaRPr lang="en-US"/>
          </a:p>
        </p:txBody>
      </p:sp>
      <p:pic>
        <p:nvPicPr>
          <p:cNvPr id="5" name="Content Placeholder 3" descr="A computer screen shot of a pro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2040" y="127758"/>
            <a:ext cx="5565047" cy="2293690"/>
          </a:xfrm>
          <a:prstGeom prst="rect">
            <a:avLst/>
          </a:prstGeom>
        </p:spPr>
      </p:pic>
      <p:pic>
        <p:nvPicPr>
          <p:cNvPr id="7" name="Picture 6" descr="A computer screen shot of tex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643" y="4276523"/>
            <a:ext cx="5566270" cy="2402223"/>
          </a:xfrm>
          <a:prstGeom prst="rect">
            <a:avLst/>
          </a:prstGeom>
        </p:spPr>
      </p:pic>
      <p:pic>
        <p:nvPicPr>
          <p:cNvPr id="4" name="Picture 3" descr="A screenshot of a computer pr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43" y="4378098"/>
            <a:ext cx="4789715" cy="2303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6532</Words>
  <Application>WPS Presentation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Consolas</vt:lpstr>
      <vt:lpstr>Aptos</vt:lpstr>
      <vt:lpstr>Segoe UI</vt:lpstr>
      <vt:lpstr>Calibri</vt:lpstr>
      <vt:lpstr>Arial</vt:lpstr>
      <vt:lpstr>Courier New</vt:lpstr>
      <vt:lpstr>Aptos Display</vt:lpstr>
      <vt:lpstr>Microsoft YaHei</vt:lpstr>
      <vt:lpstr>Arial Unicode MS</vt:lpstr>
      <vt:lpstr>Aptos</vt:lpstr>
      <vt:lpstr>office theme</vt:lpstr>
      <vt:lpstr>File &amp; Disk Usage Monitor</vt:lpstr>
      <vt:lpstr>Rezumat și GitHub</vt:lpstr>
      <vt:lpstr>Utilitare și Comenzi Shell</vt:lpstr>
      <vt:lpstr>Utilitare și Comenzi Shell</vt:lpstr>
      <vt:lpstr>Utilitare și Comenzi Shell</vt:lpstr>
      <vt:lpstr> Monitorizarea Evoluției Discului</vt:lpstr>
      <vt:lpstr>Identificarea Fișierelor Apărute</vt:lpstr>
      <vt:lpstr>Monitorizarea Integrității Fișierelor</vt:lpstr>
      <vt:lpstr>Gestiunea Ștergerilor și Testarea Automatizată</vt:lpstr>
      <vt:lpstr>Concluzii și Contribuții</vt:lpstr>
      <vt:lpstr>Rulare și Edge-cases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Omar Sorin</cp:lastModifiedBy>
  <cp:revision>7</cp:revision>
  <dcterms:created xsi:type="dcterms:W3CDTF">2026-01-06T17:15:00Z</dcterms:created>
  <dcterms:modified xsi:type="dcterms:W3CDTF">2026-01-12T20:32:33Z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A25B171290554396BCEDE11EFC4F743C_12</vt:lpwstr>
  </property>
  <property fmtid="{D5CDD505-2E9C-101B-9397-08002B2CF9AE}" pid="3" name="KSOProductBuildVer">
    <vt:lpwstr>1033-12.2.0.23196</vt:lpwstr>
  </property>
</Properties>
</file>